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400" b="1">
                <a:solidFill>
                  <a:srgbClr val="1E2933"/>
                </a:solidFill>
              </a:defRPr>
            </a:pPr>
            <a:r>
              <a:t>BMS AUTOSAR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6517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1A5F7A"/>
                </a:solidFill>
              </a:defRPr>
            </a:pPr>
            <a:r>
              <a:t>智能代码生成器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749039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2200">
                <a:solidFill>
                  <a:srgbClr val="1E2933"/>
                </a:solidFill>
              </a:defRPr>
            </a:pPr>
            <a:r>
              <a:t>基于 RAG 知识库 + MISRA 质量门 + ARXML 图谱的电池管理系统 AUTOSAR 代码生成工具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3035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800">
                <a:solidFill>
                  <a:srgbClr val="FF6B35"/>
                </a:solidFill>
              </a:defRPr>
            </a:pPr>
            <a:r>
              <a:t>参赛作品展示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5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背景与痛点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600">
                <a:solidFill>
                  <a:srgbClr val="1A5F7A"/>
                </a:solidFill>
              </a:defRPr>
            </a:pPr>
            <a:r>
              <a:t>Background &amp; Pain Points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1E2933"/>
                </a:solidFill>
              </a:defRPr>
            </a:pPr>
            <a:r>
              <a:t>• BMS（电池管理系统）是新能源汽车核心安全软件，AUTOSAR Classic 是行业主流架构</a:t>
            </a:r>
          </a:p>
          <a:p>
            <a:pPr>
              <a:spcAft>
                <a:spcPts val="1200"/>
              </a:spcAft>
              <a:defRPr sz="2200">
                <a:solidFill>
                  <a:srgbClr val="1E2933"/>
                </a:solidFill>
              </a:defRPr>
            </a:pPr>
            <a:r>
              <a:t>• 传统开发依赖资深工程师手写 SWC、BSW、RTE、ARXML，周期长、成本高</a:t>
            </a:r>
          </a:p>
          <a:p>
            <a:pPr>
              <a:spcAft>
                <a:spcPts val="1200"/>
              </a:spcAft>
              <a:defRPr sz="2200">
                <a:solidFill>
                  <a:srgbClr val="1E2933"/>
                </a:solidFill>
              </a:defRPr>
            </a:pPr>
            <a:r>
              <a:t>• 领域知识分散在规范文档、历史项目、ARXML 模型中，难以被 AI 直接利用</a:t>
            </a:r>
          </a:p>
          <a:p>
            <a:pPr>
              <a:spcAft>
                <a:spcPts val="1200"/>
              </a:spcAft>
              <a:defRPr sz="2200">
                <a:solidFill>
                  <a:srgbClr val="1E2933"/>
                </a:solidFill>
              </a:defRPr>
            </a:pPr>
            <a:r>
              <a:t>• 生成代码常出现 MISRA C:2012 违规、接口不一致、命名不规范等问题</a:t>
            </a:r>
          </a:p>
          <a:p>
            <a:pPr>
              <a:spcAft>
                <a:spcPts val="1200"/>
              </a:spcAft>
              <a:defRPr sz="2200">
                <a:solidFill>
                  <a:srgbClr val="1E2933"/>
                </a:solidFill>
              </a:defRPr>
            </a:pPr>
            <a:r>
              <a:t>• 现有通用代码生成工具缺乏 AUTOSAR/BMS 领域语义理解能力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5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方案概览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600">
                <a:solidFill>
                  <a:srgbClr val="1A5F7A"/>
                </a:solidFill>
              </a:defRPr>
            </a:pPr>
            <a:r>
              <a:t>Solution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1E2933"/>
                </a:solidFill>
              </a:defRPr>
            </a:pPr>
            <a:r>
              <a:t>• 面向 BMS AUTOSAR 的端到端智能代码生成 VS Code 插件</a:t>
            </a:r>
          </a:p>
          <a:p>
            <a:pPr>
              <a:spcAft>
                <a:spcPts val="1200"/>
              </a:spcAft>
              <a:defRPr sz="2200">
                <a:solidFill>
                  <a:srgbClr val="1E2933"/>
                </a:solidFill>
              </a:defRPr>
            </a:pPr>
            <a:r>
              <a:t>• 融合 RAG 知识库检索、领域 query 扩展、LLM 重排序，提升检索准确率</a:t>
            </a:r>
          </a:p>
          <a:p>
            <a:pPr>
              <a:spcAft>
                <a:spcPts val="1200"/>
              </a:spcAft>
              <a:defRPr sz="2200">
                <a:solidFill>
                  <a:srgbClr val="1E2933"/>
                </a:solidFill>
              </a:defRPr>
            </a:pPr>
            <a:r>
              <a:t>• 内置 MISRA C:2012 静态检查 + 自动修复闭环，确保代码合规</a:t>
            </a:r>
          </a:p>
          <a:p>
            <a:pPr>
              <a:spcAft>
                <a:spcPts val="1200"/>
              </a:spcAft>
              <a:defRPr sz="2200">
                <a:solidFill>
                  <a:srgbClr val="1E2933"/>
                </a:solidFill>
              </a:defRPr>
            </a:pPr>
            <a:r>
              <a:t>• ARXML 知识图谱可视化，辅助理解模型结构与接口关系</a:t>
            </a:r>
          </a:p>
          <a:p>
            <a:pPr>
              <a:spcAft>
                <a:spcPts val="1200"/>
              </a:spcAft>
              <a:defRPr sz="2200">
                <a:solidFill>
                  <a:srgbClr val="1E2933"/>
                </a:solidFill>
              </a:defRPr>
            </a:pPr>
            <a:r>
              <a:t>• 支持用户自定义模板，内置多种 BMS 组件类型（CSC、Controller、Balancer 等）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5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系统架构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600">
                <a:solidFill>
                  <a:srgbClr val="1A5F7A"/>
                </a:solidFill>
              </a:defRPr>
            </a:pPr>
            <a:r>
              <a:t>System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011680"/>
            <a:ext cx="3291840" cy="210312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1A5F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A5F7A"/>
                </a:solidFill>
              </a:defRPr>
            </a:pPr>
            <a:r>
              <a:t>用户交互层</a:t>
            </a:r>
          </a:p>
          <a:p>
            <a:pPr>
              <a:spcAft>
                <a:spcPts val="400"/>
              </a:spcAft>
              <a:defRPr sz="1300">
                <a:solidFill>
                  <a:srgbClr val="1E2933"/>
                </a:solidFill>
              </a:defRPr>
            </a:pPr>
            <a:r>
              <a:t>• VS Code 插件</a:t>
            </a:r>
          </a:p>
          <a:p>
            <a:pPr>
              <a:spcAft>
                <a:spcPts val="400"/>
              </a:spcAft>
              <a:defRPr sz="1300">
                <a:solidFill>
                  <a:srgbClr val="1E2933"/>
                </a:solidFill>
              </a:defRPr>
            </a:pPr>
            <a:r>
              <a:t>• Wizard 向导</a:t>
            </a:r>
          </a:p>
          <a:p>
            <a:pPr>
              <a:spcAft>
                <a:spcPts val="400"/>
              </a:spcAft>
              <a:defRPr sz="1300">
                <a:solidFill>
                  <a:srgbClr val="1E2933"/>
                </a:solidFill>
              </a:defRPr>
            </a:pPr>
            <a:r>
              <a:t>• 知识库管理器</a:t>
            </a:r>
          </a:p>
          <a:p>
            <a:pPr>
              <a:spcAft>
                <a:spcPts val="400"/>
              </a:spcAft>
              <a:defRPr sz="1300">
                <a:solidFill>
                  <a:srgbClr val="1E2933"/>
                </a:solidFill>
              </a:defRPr>
            </a:pPr>
            <a:r>
              <a:t>• 质量报告面板</a:t>
            </a:r>
          </a:p>
          <a:p>
            <a:pPr>
              <a:spcAft>
                <a:spcPts val="400"/>
              </a:spcAft>
              <a:defRPr sz="1300">
                <a:solidFill>
                  <a:srgbClr val="1E2933"/>
                </a:solidFill>
              </a:defRPr>
            </a:pPr>
            <a:r>
              <a:t>• ARXML 图谱视图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2011680"/>
            <a:ext cx="3291840" cy="210312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1A5F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A5F7A"/>
                </a:solidFill>
              </a:defRPr>
            </a:pPr>
            <a:r>
              <a:t>任务编排层</a:t>
            </a:r>
          </a:p>
          <a:p>
            <a:pPr>
              <a:spcAft>
                <a:spcPts val="400"/>
              </a:spcAft>
              <a:defRPr sz="1300">
                <a:solidFill>
                  <a:srgbClr val="1E2933"/>
                </a:solidFill>
              </a:defRPr>
            </a:pPr>
            <a:r>
              <a:t>• BmsAutosarGenerateHandler</a:t>
            </a:r>
          </a:p>
          <a:p>
            <a:pPr>
              <a:spcAft>
                <a:spcPts val="400"/>
              </a:spcAft>
              <a:defRPr sz="1300">
                <a:solidFill>
                  <a:srgbClr val="1E2933"/>
                </a:solidFill>
              </a:defRPr>
            </a:pPr>
            <a:r>
              <a:t>• 进度事件总线</a:t>
            </a:r>
          </a:p>
          <a:p>
            <a:pPr>
              <a:spcAft>
                <a:spcPts val="400"/>
              </a:spcAft>
              <a:defRPr sz="1300">
                <a:solidFill>
                  <a:srgbClr val="1E2933"/>
                </a:solidFill>
              </a:defRPr>
            </a:pPr>
            <a:r>
              <a:t>• gRPC 服务</a:t>
            </a:r>
          </a:p>
          <a:p>
            <a:pPr>
              <a:spcAft>
                <a:spcPts val="400"/>
              </a:spcAft>
              <a:defRPr sz="1300">
                <a:solidFill>
                  <a:srgbClr val="1E2933"/>
                </a:solidFill>
              </a:defRPr>
            </a:pPr>
            <a:r>
              <a:t>• 模板渲染引擎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2011680"/>
            <a:ext cx="3291840" cy="210312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1A5F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A5F7A"/>
                </a:solidFill>
              </a:defRPr>
            </a:pPr>
            <a:r>
              <a:t>智能检索层</a:t>
            </a:r>
          </a:p>
          <a:p>
            <a:pPr>
              <a:spcAft>
                <a:spcPts val="400"/>
              </a:spcAft>
              <a:defRPr sz="1300">
                <a:solidFill>
                  <a:srgbClr val="1E2933"/>
                </a:solidFill>
              </a:defRPr>
            </a:pPr>
            <a:r>
              <a:t>• Embedding 语义检索</a:t>
            </a:r>
          </a:p>
          <a:p>
            <a:pPr>
              <a:spcAft>
                <a:spcPts val="400"/>
              </a:spcAft>
              <a:defRPr sz="1300">
                <a:solidFill>
                  <a:srgbClr val="1E2933"/>
                </a:solidFill>
              </a:defRPr>
            </a:pPr>
            <a:r>
              <a:t>• BM25 词法检索</a:t>
            </a:r>
          </a:p>
          <a:p>
            <a:pPr>
              <a:spcAft>
                <a:spcPts val="400"/>
              </a:spcAft>
              <a:defRPr sz="1300">
                <a:solidFill>
                  <a:srgbClr val="1E2933"/>
                </a:solidFill>
              </a:defRPr>
            </a:pPr>
            <a:r>
              <a:t>• Query 扩展</a:t>
            </a:r>
          </a:p>
          <a:p>
            <a:pPr>
              <a:spcAft>
                <a:spcPts val="400"/>
              </a:spcAft>
              <a:defRPr sz="1300">
                <a:solidFill>
                  <a:srgbClr val="1E2933"/>
                </a:solidFill>
              </a:defRPr>
            </a:pPr>
            <a:r>
              <a:t>• ARXML 图谱增强</a:t>
            </a:r>
          </a:p>
          <a:p>
            <a:pPr>
              <a:spcAft>
                <a:spcPts val="400"/>
              </a:spcAft>
              <a:defRPr sz="1300">
                <a:solidFill>
                  <a:srgbClr val="1E2933"/>
                </a:solidFill>
              </a:defRPr>
            </a:pPr>
            <a:r>
              <a:t>• LLM 重排序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389120"/>
            <a:ext cx="3291840" cy="210312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1A5F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A5F7A"/>
                </a:solidFill>
              </a:defRPr>
            </a:pPr>
            <a:r>
              <a:t>知识/质量层</a:t>
            </a:r>
          </a:p>
          <a:p>
            <a:pPr>
              <a:spcAft>
                <a:spcPts val="400"/>
              </a:spcAft>
              <a:defRPr sz="1300">
                <a:solidFill>
                  <a:srgbClr val="1E2933"/>
                </a:solidFill>
              </a:defRPr>
            </a:pPr>
            <a:r>
              <a:t>• BMS 知识库</a:t>
            </a:r>
          </a:p>
          <a:p>
            <a:pPr>
              <a:spcAft>
                <a:spcPts val="400"/>
              </a:spcAft>
              <a:defRPr sz="1300">
                <a:solidFill>
                  <a:srgbClr val="1E2933"/>
                </a:solidFill>
              </a:defRPr>
            </a:pPr>
            <a:r>
              <a:t>• 用户模板</a:t>
            </a:r>
          </a:p>
          <a:p>
            <a:pPr>
              <a:spcAft>
                <a:spcPts val="400"/>
              </a:spcAft>
              <a:defRPr sz="1300">
                <a:solidFill>
                  <a:srgbClr val="1E2933"/>
                </a:solidFill>
              </a:defRPr>
            </a:pPr>
            <a:r>
              <a:t>• MISRA 检查器</a:t>
            </a:r>
          </a:p>
          <a:p>
            <a:pPr>
              <a:spcAft>
                <a:spcPts val="400"/>
              </a:spcAft>
              <a:defRPr sz="1300">
                <a:solidFill>
                  <a:srgbClr val="1E2933"/>
                </a:solidFill>
              </a:defRPr>
            </a:pPr>
            <a:r>
              <a:t>• 质量报告存储</a:t>
            </a:r>
          </a:p>
          <a:p>
            <a:pPr>
              <a:spcAft>
                <a:spcPts val="400"/>
              </a:spcAft>
              <a:defRPr sz="1300">
                <a:solidFill>
                  <a:srgbClr val="1E2933"/>
                </a:solidFill>
              </a:defRPr>
            </a:pPr>
            <a:r>
              <a:t>• 自动修复器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4389120"/>
            <a:ext cx="3291840" cy="210312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1A5F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A5F7A"/>
                </a:solidFill>
              </a:defRPr>
            </a:pPr>
            <a:r>
              <a:t>生成输出层</a:t>
            </a:r>
          </a:p>
          <a:p>
            <a:pPr>
              <a:spcAft>
                <a:spcPts val="400"/>
              </a:spcAft>
              <a:defRPr sz="1300">
                <a:solidFill>
                  <a:srgbClr val="1E2933"/>
                </a:solidFill>
              </a:defRPr>
            </a:pPr>
            <a:r>
              <a:t>• .h / .c 源码</a:t>
            </a:r>
          </a:p>
          <a:p>
            <a:pPr>
              <a:spcAft>
                <a:spcPts val="400"/>
              </a:spcAft>
              <a:defRPr sz="1300">
                <a:solidFill>
                  <a:srgbClr val="1E2933"/>
                </a:solidFill>
              </a:defRPr>
            </a:pPr>
            <a:r>
              <a:t>• ARXML 描述文件</a:t>
            </a:r>
          </a:p>
          <a:p>
            <a:pPr>
              <a:spcAft>
                <a:spcPts val="400"/>
              </a:spcAft>
              <a:defRPr sz="1300">
                <a:solidFill>
                  <a:srgbClr val="1E2933"/>
                </a:solidFill>
              </a:defRPr>
            </a:pPr>
            <a:r>
              <a:t>• 统一 diff 预览</a:t>
            </a:r>
          </a:p>
          <a:p>
            <a:pPr>
              <a:spcAft>
                <a:spcPts val="400"/>
              </a:spcAft>
              <a:defRPr sz="1300">
                <a:solidFill>
                  <a:srgbClr val="1E2933"/>
                </a:solidFill>
              </a:defRPr>
            </a:pPr>
            <a:r>
              <a:t>• 批量应用修复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5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核心功能 ①：智能代码生成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600">
                <a:solidFill>
                  <a:srgbClr val="1A5F7A"/>
                </a:solidFill>
              </a:defRPr>
            </a:pPr>
            <a:r>
              <a:t>Intelligent Code Generation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1E2933"/>
                </a:solidFill>
              </a:defRPr>
            </a:pPr>
            <a:r>
              <a:t>• 支持 12 种组件类型：SWC、BSW Module、RTE Interface、ARXML Descriptor、Service 等</a:t>
            </a:r>
          </a:p>
          <a:p>
            <a:pPr>
              <a:spcAft>
                <a:spcPts val="1200"/>
              </a:spcAft>
              <a:defRPr sz="2200">
                <a:solidFill>
                  <a:srgbClr val="1E2933"/>
                </a:solidFill>
              </a:defRPr>
            </a:pPr>
            <a:r>
              <a:t>• BMS 专用组件：CSC（Cell Supervision Circuit / AFE）、Controller、Balancer、Thermal Manager、Charger、Diagnosis</a:t>
            </a:r>
          </a:p>
          <a:p>
            <a:pPr>
              <a:spcAft>
                <a:spcPts val="1200"/>
              </a:spcAft>
              <a:defRPr sz="2200">
                <a:solidFill>
                  <a:srgbClr val="1E2933"/>
                </a:solidFill>
              </a:defRPr>
            </a:pPr>
            <a:r>
              <a:t>• 一键生成 .h / .c 源码 + ARXML 描述文件 + Types 定义</a:t>
            </a:r>
          </a:p>
          <a:p>
            <a:pPr>
              <a:spcAft>
                <a:spcPts val="1200"/>
              </a:spcAft>
              <a:defRPr sz="2200">
                <a:solidFill>
                  <a:srgbClr val="1E2933"/>
                </a:solidFill>
              </a:defRPr>
            </a:pPr>
            <a:r>
              <a:t>• 支持批量配置（YAML/JSON）批量生成多个组件蓝图</a:t>
            </a:r>
          </a:p>
          <a:p>
            <a:pPr>
              <a:spcAft>
                <a:spcPts val="1200"/>
              </a:spcAft>
              <a:defRPr sz="2200">
                <a:solidFill>
                  <a:srgbClr val="1E2933"/>
                </a:solidFill>
              </a:defRPr>
            </a:pPr>
            <a:r>
              <a:t>• 生成过程实时流式展示进度：preparing → retrieving_knowledge → generating → complete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5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核心功能 ②：RAG 知识库增强检索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600">
                <a:solidFill>
                  <a:srgbClr val="1A5F7A"/>
                </a:solidFill>
              </a:defRPr>
            </a:pPr>
            <a:r>
              <a:t>RAG Knowledge Base Retrieval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1E2933"/>
                </a:solidFill>
              </a:defRPr>
            </a:pPr>
            <a:r>
              <a:t>• Hybrid 检索：Embedding 余弦相似度 + BM25 词法分融合，可调的 hybrid weight</a:t>
            </a:r>
          </a:p>
          <a:p>
            <a:pPr>
              <a:spcAft>
                <a:spcPts val="1200"/>
              </a:spcAft>
              <a:defRPr sz="2200">
                <a:solidFill>
                  <a:srgbClr val="1E2933"/>
                </a:solidFill>
              </a:defRPr>
            </a:pPr>
            <a:r>
              <a:t>• AUTOSAR 领域 Query 扩展：自动扩展 CSC/AFE、SOC/StateOfCharge、BMS/BatteryManagementSystem 等同义词</a:t>
            </a:r>
          </a:p>
          <a:p>
            <a:pPr>
              <a:spcAft>
                <a:spcPts val="1200"/>
              </a:spcAft>
              <a:defRPr sz="2200">
                <a:solidFill>
                  <a:srgbClr val="1E2933"/>
                </a:solidFill>
              </a:defRPr>
            </a:pPr>
            <a:r>
              <a:t>• 元数据预过滤：按 tag（如 swc/cell/thermal）和 source file 精准过滤</a:t>
            </a:r>
          </a:p>
          <a:p>
            <a:pPr>
              <a:spcAft>
                <a:spcPts val="1200"/>
              </a:spcAft>
              <a:defRPr sz="2200">
                <a:solidFill>
                  <a:srgbClr val="1E2933"/>
                </a:solidFill>
              </a:defRPr>
            </a:pPr>
            <a:r>
              <a:t>• ARXML 图谱增强：从源文件构建 SWC/Port/Interface 图谱，给拓扑邻近条目加权</a:t>
            </a:r>
          </a:p>
          <a:p>
            <a:pPr>
              <a:spcAft>
                <a:spcPts val="1200"/>
              </a:spcAft>
              <a:defRPr sz="2200">
                <a:solidFill>
                  <a:srgbClr val="1E2933"/>
                </a:solidFill>
              </a:defRPr>
            </a:pPr>
            <a:r>
              <a:t>• LLM-as-reranker：二阶段 LLM 打分重排，进一步提升检索相关性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5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核心功能 ③：MISRA 质量门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600">
                <a:solidFill>
                  <a:srgbClr val="1A5F7A"/>
                </a:solidFill>
              </a:defRPr>
            </a:pPr>
            <a:r>
              <a:t>MISRA C:2012 Quality Gates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1E2933"/>
                </a:solidFill>
              </a:defRPr>
            </a:pPr>
            <a:r>
              <a:t>• 内置轻量级 MISRA C:2012 静态检查器，覆盖 12 条常见生成代码违规</a:t>
            </a:r>
          </a:p>
          <a:p>
            <a:pPr>
              <a:spcAft>
                <a:spcPts val="1200"/>
              </a:spcAft>
              <a:defRPr sz="2200">
                <a:solidFill>
                  <a:srgbClr val="1E2933"/>
                </a:solidFill>
              </a:defRPr>
            </a:pPr>
            <a:r>
              <a:t>• 检测项包括：stdlib/stdio 禁用、八进制常量、未初始化变量、多返回点、函数声明缺失等</a:t>
            </a:r>
          </a:p>
          <a:p>
            <a:pPr>
              <a:spcAft>
                <a:spcPts val="1200"/>
              </a:spcAft>
              <a:defRPr sz="2200">
                <a:solidFill>
                  <a:srgbClr val="1E2933"/>
                </a:solidFill>
              </a:defRPr>
            </a:pPr>
            <a:r>
              <a:t>• 生成代码后自动运行质量门，生成结构化质量报告</a:t>
            </a:r>
          </a:p>
          <a:p>
            <a:pPr>
              <a:spcAft>
                <a:spcPts val="1200"/>
              </a:spcAft>
              <a:defRPr sz="2200">
                <a:solidFill>
                  <a:srgbClr val="1E2933"/>
                </a:solidFill>
              </a:defRPr>
            </a:pPr>
            <a:r>
              <a:t>• Webview 质量报告面板按 error/warning/info 分级展示，支持一键定位源码</a:t>
            </a:r>
          </a:p>
          <a:p>
            <a:pPr>
              <a:spcAft>
                <a:spcPts val="1200"/>
              </a:spcAft>
              <a:defRPr sz="2200">
                <a:solidFill>
                  <a:srgbClr val="1E2933"/>
                </a:solidFill>
              </a:defRPr>
            </a:pPr>
            <a:r>
              <a:t>• 支持单文件与批量自动修复，生成统一 diff 预览后用户确认再写盘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5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核心功能 ④：ARXML 知识图谱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600">
                <a:solidFill>
                  <a:srgbClr val="1A5F7A"/>
                </a:solidFill>
              </a:defRPr>
            </a:pPr>
            <a:r>
              <a:t>ARXML Knowledge Graph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1E2933"/>
                </a:solidFill>
              </a:defRPr>
            </a:pPr>
            <a:r>
              <a:t>• 解析 ARXML 文件，提取 SWC、Port、Interface、Data Type、Runnable 等实体</a:t>
            </a:r>
          </a:p>
          <a:p>
            <a:pPr>
              <a:spcAft>
                <a:spcPts val="1200"/>
              </a:spcAft>
              <a:defRPr sz="2200">
                <a:solidFill>
                  <a:srgbClr val="1E2933"/>
                </a:solidFill>
              </a:defRPr>
            </a:pPr>
            <a:r>
              <a:t>• 构建节点与边的关系网络，支持多跳邻居查询</a:t>
            </a:r>
          </a:p>
          <a:p>
            <a:pPr>
              <a:spcAft>
                <a:spcPts val="1200"/>
              </a:spcAft>
              <a:defRPr sz="2200">
                <a:solidFill>
                  <a:srgbClr val="1E2933"/>
                </a:solidFill>
              </a:defRPr>
            </a:pPr>
            <a:r>
              <a:t>• 检索阶段利用图谱邻近度对相关知识条目加权，提升领域相关性</a:t>
            </a:r>
          </a:p>
          <a:p>
            <a:pPr>
              <a:spcAft>
                <a:spcPts val="1200"/>
              </a:spcAft>
              <a:defRPr sz="2200">
                <a:solidFill>
                  <a:srgbClr val="1E2933"/>
                </a:solidFill>
              </a:defRPr>
            </a:pPr>
            <a:r>
              <a:t>• Webview 交互式力导向图谱可视化，直观展示系统架构</a:t>
            </a:r>
          </a:p>
          <a:p>
            <a:pPr>
              <a:spcAft>
                <a:spcPts val="1200"/>
              </a:spcAft>
              <a:defRPr sz="2200">
                <a:solidFill>
                  <a:srgbClr val="1E2933"/>
                </a:solidFill>
              </a:defRPr>
            </a:pPr>
            <a:r>
              <a:t>• 支持选择具体 ARXML 文件进行图谱构建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5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核心功能 ⑤：用户自定义模板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600">
                <a:solidFill>
                  <a:srgbClr val="1A5F7A"/>
                </a:solidFill>
              </a:defRPr>
            </a:pPr>
            <a:r>
              <a:t>User-Defined Templates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1E2933"/>
                </a:solidFill>
              </a:defRPr>
            </a:pPr>
            <a:r>
              <a:t>• 内置默认模板覆盖常见组件类型，保证开箱即用</a:t>
            </a:r>
          </a:p>
          <a:p>
            <a:pPr>
              <a:spcAft>
                <a:spcPts val="1200"/>
              </a:spcAft>
              <a:defRPr sz="2200">
                <a:solidFill>
                  <a:srgbClr val="1E2933"/>
                </a:solidFill>
              </a:defRPr>
            </a:pPr>
            <a:r>
              <a:t>• 支持 workspace/global 两级用户模板存储（templates.json）</a:t>
            </a:r>
          </a:p>
          <a:p>
            <a:pPr>
              <a:spcAft>
                <a:spcPts val="1200"/>
              </a:spcAft>
              <a:defRPr sz="2200">
                <a:solidFill>
                  <a:srgbClr val="1E2933"/>
                </a:solidFill>
              </a:defRPr>
            </a:pPr>
            <a:r>
              <a:t>• 模板优先级：workspace &gt; global &gt; built-in，用户可覆盖内置生成模式</a:t>
            </a:r>
          </a:p>
          <a:p>
            <a:pPr>
              <a:spcAft>
                <a:spcPts val="1200"/>
              </a:spcAft>
              <a:defRPr sz="2200">
                <a:solidFill>
                  <a:srgbClr val="1E2933"/>
                </a:solidFill>
              </a:defRPr>
            </a:pPr>
            <a:r>
              <a:t>• Wizard 中组件类型下拉框自动合并内置类型与用户模板</a:t>
            </a:r>
          </a:p>
          <a:p>
            <a:pPr>
              <a:spcAft>
                <a:spcPts val="1200"/>
              </a:spcAft>
              <a:defRPr sz="2200">
                <a:solidFill>
                  <a:srgbClr val="1E2933"/>
                </a:solidFill>
              </a:defRPr>
            </a:pPr>
            <a:r>
              <a:t>• 提供模板管理对话框，支持创建、列出、删除自定义模板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5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技术亮点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600">
                <a:solidFill>
                  <a:srgbClr val="1A5F7A"/>
                </a:solidFill>
              </a:defRPr>
            </a:pPr>
            <a:r>
              <a:t>Technical Highlights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1E2933"/>
                </a:solidFill>
              </a:defRPr>
            </a:pPr>
            <a:r>
              <a:t>• 端到端 VS Code 插件形态，直接服务工程师日常开发流程</a:t>
            </a:r>
          </a:p>
          <a:p>
            <a:pPr>
              <a:spcAft>
                <a:spcPts val="1200"/>
              </a:spcAft>
              <a:defRPr sz="2200">
                <a:solidFill>
                  <a:srgbClr val="1E2933"/>
                </a:solidFill>
              </a:defRPr>
            </a:pPr>
            <a:r>
              <a:t>• gRPC + Protobuf 实现前后端高效通信，支持流式生成进度推送</a:t>
            </a:r>
          </a:p>
          <a:p>
            <a:pPr>
              <a:spcAft>
                <a:spcPts val="1200"/>
              </a:spcAft>
              <a:defRPr sz="2200">
                <a:solidFill>
                  <a:srgbClr val="1E2933"/>
                </a:solidFill>
              </a:defRPr>
            </a:pPr>
            <a:r>
              <a:t>• 原子写入、embedding 缓存、并发控制等工程化细节保证稳定性</a:t>
            </a:r>
          </a:p>
          <a:p>
            <a:pPr>
              <a:spcAft>
                <a:spcPts val="1200"/>
              </a:spcAft>
              <a:defRPr sz="2200">
                <a:solidFill>
                  <a:srgbClr val="1E2933"/>
                </a:solidFill>
              </a:defRPr>
            </a:pPr>
            <a:r>
              <a:t>• 模块化架构：检索、生成、检查、修复、图谱、模板各模块可独立演进</a:t>
            </a:r>
          </a:p>
          <a:p>
            <a:pPr>
              <a:spcAft>
                <a:spcPts val="1200"/>
              </a:spcAft>
              <a:defRPr sz="2200">
                <a:solidFill>
                  <a:srgbClr val="1E2933"/>
                </a:solidFill>
              </a:defRPr>
            </a:pPr>
            <a:r>
              <a:t>• RAG 参数可调 UI：Top K、Hybrid Weight、Score Threshold、LLM Reranker 实时配置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5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验证与测试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600">
                <a:solidFill>
                  <a:srgbClr val="1A5F7A"/>
                </a:solidFill>
              </a:defRPr>
            </a:pPr>
            <a:r>
              <a:t>Validation &amp; Testing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1E2933"/>
                </a:solidFill>
              </a:defRPr>
            </a:pPr>
            <a:r>
              <a:t>• TypeScript 类型检查：npm run check-types ✅</a:t>
            </a:r>
          </a:p>
          <a:p>
            <a:pPr>
              <a:spcAft>
                <a:spcPts val="1200"/>
              </a:spcAft>
              <a:defRPr sz="2200">
                <a:solidFill>
                  <a:srgbClr val="1E2933"/>
                </a:solidFill>
              </a:defRPr>
            </a:pPr>
            <a:r>
              <a:t>• 代码规范：npm run lint ✅</a:t>
            </a:r>
          </a:p>
          <a:p>
            <a:pPr>
              <a:spcAft>
                <a:spcPts val="1200"/>
              </a:spcAft>
              <a:defRPr sz="2200">
                <a:solidFill>
                  <a:srgbClr val="1E2933"/>
                </a:solidFill>
              </a:defRPr>
            </a:pPr>
            <a:r>
              <a:t>• 单元测试：npm run test:unit ✅ 1647 项通过</a:t>
            </a:r>
          </a:p>
          <a:p>
            <a:pPr>
              <a:spcAft>
                <a:spcPts val="1200"/>
              </a:spcAft>
              <a:defRPr sz="2200">
                <a:solidFill>
                  <a:srgbClr val="1E2933"/>
                </a:solidFill>
              </a:defRPr>
            </a:pPr>
            <a:r>
              <a:t>• 插件构建：npm run package:vsix ✅ 生成可安装 .vsix 文件（9.1 MB）</a:t>
            </a:r>
          </a:p>
          <a:p>
            <a:pPr>
              <a:spcAft>
                <a:spcPts val="1200"/>
              </a:spcAft>
              <a:defRPr sz="2200">
                <a:solidFill>
                  <a:srgbClr val="1E2933"/>
                </a:solidFill>
              </a:defRPr>
            </a:pPr>
            <a:r>
              <a:t>• 覆盖模块：Query Expander、Reranker、Semantic Retrieval Filters、Template Storage、Auto-Fixer 等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5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成果展示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600">
                <a:solidFill>
                  <a:srgbClr val="1A5F7A"/>
                </a:solidFill>
              </a:defRPr>
            </a:pPr>
            <a:r>
              <a:t>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1E2933"/>
                </a:solidFill>
              </a:defRPr>
            </a:pPr>
            <a:r>
              <a:t>• 已实现完整的 BMS AUTOSAR 代码生成 VS Code 扩展</a:t>
            </a:r>
          </a:p>
          <a:p>
            <a:pPr>
              <a:spcAft>
                <a:spcPts val="1200"/>
              </a:spcAft>
              <a:defRPr sz="2200">
                <a:solidFill>
                  <a:srgbClr val="1E2933"/>
                </a:solidFill>
              </a:defRPr>
            </a:pPr>
            <a:r>
              <a:t>• 支持从需求/组件类型到源码+ARXML 的一站式生成</a:t>
            </a:r>
          </a:p>
          <a:p>
            <a:pPr>
              <a:spcAft>
                <a:spcPts val="1200"/>
              </a:spcAft>
              <a:defRPr sz="2200">
                <a:solidFill>
                  <a:srgbClr val="1E2933"/>
                </a:solidFill>
              </a:defRPr>
            </a:pPr>
            <a:r>
              <a:t>• RAG 检索准确率通过领域扩展、图谱增强、LLM 重排序持续提升</a:t>
            </a:r>
          </a:p>
          <a:p>
            <a:pPr>
              <a:spcAft>
                <a:spcPts val="1200"/>
              </a:spcAft>
              <a:defRPr sz="2200">
                <a:solidFill>
                  <a:srgbClr val="1E2933"/>
                </a:solidFill>
              </a:defRPr>
            </a:pPr>
            <a:r>
              <a:t>• 生成代码经过 MISRA 检查与自动修复闭环，质量可控</a:t>
            </a:r>
          </a:p>
          <a:p>
            <a:pPr>
              <a:spcAft>
                <a:spcPts val="1200"/>
              </a:spcAft>
              <a:defRPr sz="2200">
                <a:solidFill>
                  <a:srgbClr val="1E2933"/>
                </a:solidFill>
              </a:defRPr>
            </a:pPr>
            <a:r>
              <a:t>• 构建产物可直接安装到 VS Code 进行演示和使用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5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创新点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600">
                <a:solidFill>
                  <a:srgbClr val="1A5F7A"/>
                </a:solidFill>
              </a:defRPr>
            </a:pPr>
            <a:r>
              <a:t>Innovation Points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1E2933"/>
                </a:solidFill>
              </a:defRPr>
            </a:pPr>
            <a:r>
              <a:t>• 领域专用 RAG：针对 AUTOSAR/BMS 缩写与概念做 query 扩展，解决词汇鸿沟</a:t>
            </a:r>
          </a:p>
          <a:p>
            <a:pPr>
              <a:spcAft>
                <a:spcPts val="1200"/>
              </a:spcAft>
              <a:defRPr sz="2200">
                <a:solidFill>
                  <a:srgbClr val="1E2933"/>
                </a:solidFill>
              </a:defRPr>
            </a:pPr>
            <a:r>
              <a:t>• 图谱增强检索：首次将 ARXML 知识图谱融入代码生成的上下文检索</a:t>
            </a:r>
          </a:p>
          <a:p>
            <a:pPr>
              <a:spcAft>
                <a:spcPts val="1200"/>
              </a:spcAft>
              <a:defRPr sz="2200">
                <a:solidFill>
                  <a:srgbClr val="1E2933"/>
                </a:solidFill>
              </a:defRPr>
            </a:pPr>
            <a:r>
              <a:t>• LLM 二阶段重排：在 embedding+BM25 后引入 LLM-as-reranker，兼顾效率与精度</a:t>
            </a:r>
          </a:p>
          <a:p>
            <a:pPr>
              <a:spcAft>
                <a:spcPts val="1200"/>
              </a:spcAft>
              <a:defRPr sz="2200">
                <a:solidFill>
                  <a:srgbClr val="1E2933"/>
                </a:solidFill>
              </a:defRPr>
            </a:pPr>
            <a:r>
              <a:t>• 生成-检查-修复闭环：MISRA 检查与 LLM 自动修复形成完整质量闭环</a:t>
            </a:r>
          </a:p>
          <a:p>
            <a:pPr>
              <a:spcAft>
                <a:spcPts val="1200"/>
              </a:spcAft>
              <a:defRPr sz="2200">
                <a:solidFill>
                  <a:srgbClr val="1E2933"/>
                </a:solidFill>
              </a:defRPr>
            </a:pPr>
            <a:r>
              <a:t>• 模板即配置：用户无需修改代码即可通过模板覆盖生成规则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5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未来展望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600">
                <a:solidFill>
                  <a:srgbClr val="1A5F7A"/>
                </a:solidFill>
              </a:defRPr>
            </a:pPr>
            <a:r>
              <a:t>Future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1E2933"/>
                </a:solidFill>
              </a:defRPr>
            </a:pPr>
            <a:r>
              <a:t>• 引入更多 AUTOSAR 标准规范（如 AUTOSAR CP R22-11）作为结构化知识</a:t>
            </a:r>
          </a:p>
          <a:p>
            <a:pPr>
              <a:spcAft>
                <a:spcPts val="1200"/>
              </a:spcAft>
              <a:defRPr sz="2200">
                <a:solidFill>
                  <a:srgbClr val="1E2933"/>
                </a:solidFill>
              </a:defRPr>
            </a:pPr>
            <a:r>
              <a:t>• 增加生成代码的单元测试与仿真验证能力</a:t>
            </a:r>
          </a:p>
          <a:p>
            <a:pPr>
              <a:spcAft>
                <a:spcPts val="1200"/>
              </a:spcAft>
              <a:defRPr sz="2200">
                <a:solidFill>
                  <a:srgbClr val="1E2933"/>
                </a:solidFill>
              </a:defRPr>
            </a:pPr>
            <a:r>
              <a:t>• 支持从自然语言需求自动推导端口、runnable 和数据类型</a:t>
            </a:r>
          </a:p>
          <a:p>
            <a:pPr>
              <a:spcAft>
                <a:spcPts val="1200"/>
              </a:spcAft>
              <a:defRPr sz="2200">
                <a:solidFill>
                  <a:srgbClr val="1E2933"/>
                </a:solidFill>
              </a:defRPr>
            </a:pPr>
            <a:r>
              <a:t>• 建立 BMS 代码生成 benchmark，量化 RAG 与生成质量提升</a:t>
            </a:r>
          </a:p>
          <a:p>
            <a:pPr>
              <a:spcAft>
                <a:spcPts val="1200"/>
              </a:spcAft>
              <a:defRPr sz="2200">
                <a:solidFill>
                  <a:srgbClr val="1E2933"/>
                </a:solidFill>
              </a:defRPr>
            </a:pPr>
            <a:r>
              <a:t>• 探索多 Agent 协作：架构设计 Agent + 代码生成 Agent + 审查 Agent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5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56032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1">
                <a:solidFill>
                  <a:srgbClr val="FFFFFF"/>
                </a:solidFill>
              </a:defRPr>
            </a:pPr>
            <a:r>
              <a:t>感谢聆听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749039"/>
            <a:ext cx="121916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2800">
                <a:solidFill>
                  <a:srgbClr val="FFFFFF"/>
                </a:solidFill>
              </a:defRPr>
            </a:pPr>
            <a:r>
              <a:t>BMS AUTOSAR 智能代码生成器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45720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2000">
                <a:solidFill>
                  <a:srgbClr val="FF6B35"/>
                </a:solidFill>
              </a:defRPr>
            </a:pPr>
            <a:r>
              <a:t>欢迎提问与交流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