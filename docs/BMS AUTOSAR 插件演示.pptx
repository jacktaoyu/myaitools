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nphlskrmgrs2/mnt/agents/output/bms-autosar-demo/images/4_67_500_Electric_Vehicle_Battery_Stock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2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984500"/>
            <a:ext cx="762000" cy="50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32385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 AUTOSAR</a:t>
            </a:r>
            <a:endParaRPr lang="en-US" sz="5200" dirty="0"/>
          </a:p>
          <a:p>
            <a:pPr algn="l">
              <a:lnSpc>
                <a:spcPct val="120000"/>
              </a:lnSpc>
            </a:pPr>
            <a:r>
              <a:rPr lang="en-US" sz="5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插件演示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016000" y="5080000"/>
            <a:ext cx="825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Cline 新增插件 —— ARXML 解析 · 知识图谱 · 代码生成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质量报告 · 编译管理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16000" y="787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插件版本：claude-dev-3.89.2-bms-autosar.vsix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825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演示工程：AUTOSAR-BMS--main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演示大纲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16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86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476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406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插件安装与工程准备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VSIX 安装与示例工程加载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2000" y="2286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0" y="2476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96000" y="3048000"/>
            <a:ext cx="406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总览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Actions / Live Metrics / Issues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22000" y="2286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76000" y="2476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1176000" y="3048000"/>
            <a:ext cx="406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 知识图谱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可视化、过滤、布局、源文件跳转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4318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4508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016000" y="5080000"/>
            <a:ext cx="406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外部数据联动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DBC / Excel / Simulink 统一挂图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842000" y="4318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0" y="4508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096000" y="5080000"/>
            <a:ext cx="406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代码生成与质量报告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Generator / Quality Report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22000" y="4318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76000" y="4508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176000" y="5080000"/>
            <a:ext cx="406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编译管理与总结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 Manager / 功能回顾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825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演示时长：约 15–20 分钟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 AUTOSAR 开发痛点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9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57150"/>
                </a:moveTo>
                <a:cubicBezTo>
                  <a:pt x="0" y="25628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5983"/>
                  <a:pt x="308134" y="16699"/>
                </a:cubicBezTo>
                <a:lnTo>
                  <a:pt x="434935" y="111889"/>
                </a:lnTo>
                <a:cubicBezTo>
                  <a:pt x="449223" y="122605"/>
                  <a:pt x="457200" y="137160"/>
                  <a:pt x="457200" y="152340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247650" y="52239"/>
                </a:moveTo>
                <a:lnTo>
                  <a:pt x="247650" y="135731"/>
                </a:lnTo>
                <a:cubicBezTo>
                  <a:pt x="247650" y="147608"/>
                  <a:pt x="260390" y="157163"/>
                  <a:pt x="276225" y="157163"/>
                </a:cubicBezTo>
                <a:lnTo>
                  <a:pt x="387548" y="157163"/>
                </a:lnTo>
                <a:lnTo>
                  <a:pt x="247650" y="52239"/>
                </a:lnTo>
                <a:close/>
                <a:moveTo>
                  <a:pt x="183594" y="263962"/>
                </a:moveTo>
                <a:cubicBezTo>
                  <a:pt x="193834" y="254943"/>
                  <a:pt x="192524" y="241459"/>
                  <a:pt x="180499" y="233779"/>
                </a:cubicBezTo>
                <a:cubicBezTo>
                  <a:pt x="168473" y="226100"/>
                  <a:pt x="150495" y="227082"/>
                  <a:pt x="140256" y="236101"/>
                </a:cubicBezTo>
                <a:lnTo>
                  <a:pt x="83106" y="286107"/>
                </a:lnTo>
                <a:cubicBezTo>
                  <a:pt x="73938" y="294144"/>
                  <a:pt x="73938" y="305931"/>
                  <a:pt x="83106" y="313968"/>
                </a:cubicBezTo>
                <a:lnTo>
                  <a:pt x="140256" y="363974"/>
                </a:lnTo>
                <a:cubicBezTo>
                  <a:pt x="150495" y="372993"/>
                  <a:pt x="168592" y="373975"/>
                  <a:pt x="180499" y="366296"/>
                </a:cubicBezTo>
                <a:cubicBezTo>
                  <a:pt x="192405" y="358616"/>
                  <a:pt x="193834" y="345043"/>
                  <a:pt x="183594" y="336113"/>
                </a:cubicBezTo>
                <a:lnTo>
                  <a:pt x="142399" y="300038"/>
                </a:lnTo>
                <a:lnTo>
                  <a:pt x="183594" y="263962"/>
                </a:lnTo>
                <a:close/>
                <a:moveTo>
                  <a:pt x="316944" y="236101"/>
                </a:moveTo>
                <a:cubicBezTo>
                  <a:pt x="306705" y="227082"/>
                  <a:pt x="288607" y="226100"/>
                  <a:pt x="276701" y="233779"/>
                </a:cubicBezTo>
                <a:cubicBezTo>
                  <a:pt x="264795" y="241459"/>
                  <a:pt x="263366" y="255032"/>
                  <a:pt x="273606" y="263962"/>
                </a:cubicBezTo>
                <a:lnTo>
                  <a:pt x="314801" y="300038"/>
                </a:lnTo>
                <a:lnTo>
                  <a:pt x="273606" y="336113"/>
                </a:lnTo>
                <a:cubicBezTo>
                  <a:pt x="263366" y="345132"/>
                  <a:pt x="264676" y="358616"/>
                  <a:pt x="276701" y="366296"/>
                </a:cubicBezTo>
                <a:cubicBezTo>
                  <a:pt x="288727" y="373975"/>
                  <a:pt x="306705" y="372993"/>
                  <a:pt x="316944" y="363974"/>
                </a:cubicBezTo>
                <a:lnTo>
                  <a:pt x="374094" y="313968"/>
                </a:lnTo>
                <a:cubicBezTo>
                  <a:pt x="383262" y="305931"/>
                  <a:pt x="383262" y="294144"/>
                  <a:pt x="374094" y="286107"/>
                </a:cubicBezTo>
                <a:lnTo>
                  <a:pt x="316944" y="236101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2349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 文件复杂难读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动辄几千上万行，元素层级深，读不懂、找不着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21590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99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2349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组件关系理不清楚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SWC、Port、Interface、Runnable 之间关系错综复杂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0640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95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1778000" y="4254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工具链环节割裂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代码生成、质量检查、编译构建来回切换工具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40640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995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544" y="-22235"/>
                </a:moveTo>
                <a:cubicBezTo>
                  <a:pt x="25083" y="-30629"/>
                  <a:pt x="13017" y="-30629"/>
                  <a:pt x="5636" y="-22235"/>
                </a:cubicBezTo>
                <a:cubicBezTo>
                  <a:pt x="-1746" y="-13841"/>
                  <a:pt x="-1826" y="-268"/>
                  <a:pt x="5556" y="8126"/>
                </a:cubicBezTo>
                <a:lnTo>
                  <a:pt x="424656" y="479614"/>
                </a:lnTo>
                <a:cubicBezTo>
                  <a:pt x="432118" y="488007"/>
                  <a:pt x="444183" y="488007"/>
                  <a:pt x="451564" y="479614"/>
                </a:cubicBezTo>
                <a:cubicBezTo>
                  <a:pt x="458946" y="471220"/>
                  <a:pt x="459026" y="457646"/>
                  <a:pt x="451564" y="449342"/>
                </a:cubicBezTo>
                <a:lnTo>
                  <a:pt x="354727" y="340400"/>
                </a:lnTo>
                <a:cubicBezTo>
                  <a:pt x="358061" y="337364"/>
                  <a:pt x="361315" y="334060"/>
                  <a:pt x="364331" y="330666"/>
                </a:cubicBezTo>
                <a:lnTo>
                  <a:pt x="420767" y="267176"/>
                </a:lnTo>
                <a:cubicBezTo>
                  <a:pt x="444024" y="241012"/>
                  <a:pt x="457121" y="205472"/>
                  <a:pt x="457121" y="168414"/>
                </a:cubicBezTo>
                <a:cubicBezTo>
                  <a:pt x="457121" y="91261"/>
                  <a:pt x="401558" y="28664"/>
                  <a:pt x="332899" y="28664"/>
                </a:cubicBezTo>
                <a:cubicBezTo>
                  <a:pt x="303292" y="28664"/>
                  <a:pt x="274876" y="40541"/>
                  <a:pt x="252492" y="61883"/>
                </a:cubicBezTo>
                <a:cubicBezTo>
                  <a:pt x="268605" y="70902"/>
                  <a:pt x="283210" y="82868"/>
                  <a:pt x="295751" y="97155"/>
                </a:cubicBezTo>
                <a:cubicBezTo>
                  <a:pt x="306943" y="89743"/>
                  <a:pt x="319723" y="85814"/>
                  <a:pt x="332899" y="85814"/>
                </a:cubicBezTo>
                <a:cubicBezTo>
                  <a:pt x="373459" y="85814"/>
                  <a:pt x="406321" y="122783"/>
                  <a:pt x="406321" y="168414"/>
                </a:cubicBezTo>
                <a:cubicBezTo>
                  <a:pt x="406321" y="190292"/>
                  <a:pt x="398621" y="211276"/>
                  <a:pt x="384810" y="226814"/>
                </a:cubicBezTo>
                <a:lnTo>
                  <a:pt x="328374" y="290304"/>
                </a:lnTo>
                <a:cubicBezTo>
                  <a:pt x="325279" y="293787"/>
                  <a:pt x="321945" y="296912"/>
                  <a:pt x="318373" y="299680"/>
                </a:cubicBezTo>
                <a:lnTo>
                  <a:pt x="280670" y="257264"/>
                </a:lnTo>
                <a:cubicBezTo>
                  <a:pt x="293767" y="256461"/>
                  <a:pt x="304244" y="244406"/>
                  <a:pt x="304641" y="229493"/>
                </a:cubicBezTo>
                <a:cubicBezTo>
                  <a:pt x="304641" y="228332"/>
                  <a:pt x="304641" y="227171"/>
                  <a:pt x="304641" y="226010"/>
                </a:cubicBezTo>
                <a:cubicBezTo>
                  <a:pt x="304641" y="148947"/>
                  <a:pt x="249158" y="85904"/>
                  <a:pt x="180419" y="85904"/>
                </a:cubicBezTo>
                <a:cubicBezTo>
                  <a:pt x="165179" y="85904"/>
                  <a:pt x="150336" y="89029"/>
                  <a:pt x="136366" y="95012"/>
                </a:cubicBezTo>
                <a:lnTo>
                  <a:pt x="32544" y="-22235"/>
                </a:lnTo>
                <a:close/>
                <a:moveTo>
                  <a:pt x="179308" y="142875"/>
                </a:moveTo>
                <a:cubicBezTo>
                  <a:pt x="179784" y="142875"/>
                  <a:pt x="180181" y="142875"/>
                  <a:pt x="180658" y="142875"/>
                </a:cubicBezTo>
                <a:cubicBezTo>
                  <a:pt x="192643" y="142875"/>
                  <a:pt x="204073" y="146179"/>
                  <a:pt x="214074" y="151983"/>
                </a:cubicBezTo>
                <a:cubicBezTo>
                  <a:pt x="215503" y="153055"/>
                  <a:pt x="216932" y="154037"/>
                  <a:pt x="218440" y="154751"/>
                </a:cubicBezTo>
                <a:cubicBezTo>
                  <a:pt x="239713" y="169307"/>
                  <a:pt x="254000" y="195739"/>
                  <a:pt x="254000" y="225832"/>
                </a:cubicBezTo>
                <a:cubicBezTo>
                  <a:pt x="254000" y="226189"/>
                  <a:pt x="254000" y="226546"/>
                  <a:pt x="254000" y="226903"/>
                </a:cubicBezTo>
                <a:lnTo>
                  <a:pt x="179308" y="142875"/>
                </a:lnTo>
                <a:close/>
                <a:moveTo>
                  <a:pt x="274796" y="371475"/>
                </a:moveTo>
                <a:lnTo>
                  <a:pt x="152400" y="233779"/>
                </a:lnTo>
                <a:cubicBezTo>
                  <a:pt x="153353" y="309324"/>
                  <a:pt x="207645" y="370314"/>
                  <a:pt x="274717" y="371386"/>
                </a:cubicBezTo>
                <a:close/>
                <a:moveTo>
                  <a:pt x="110887" y="187077"/>
                </a:moveTo>
                <a:lnTo>
                  <a:pt x="74930" y="146625"/>
                </a:lnTo>
                <a:lnTo>
                  <a:pt x="36354" y="190024"/>
                </a:lnTo>
                <a:cubicBezTo>
                  <a:pt x="13097" y="216188"/>
                  <a:pt x="0" y="251728"/>
                  <a:pt x="0" y="288786"/>
                </a:cubicBezTo>
                <a:cubicBezTo>
                  <a:pt x="0" y="365939"/>
                  <a:pt x="55563" y="428536"/>
                  <a:pt x="124222" y="428536"/>
                </a:cubicBezTo>
                <a:cubicBezTo>
                  <a:pt x="153749" y="428536"/>
                  <a:pt x="182245" y="416659"/>
                  <a:pt x="204629" y="395317"/>
                </a:cubicBezTo>
                <a:cubicBezTo>
                  <a:pt x="188516" y="386298"/>
                  <a:pt x="173831" y="374333"/>
                  <a:pt x="161290" y="360045"/>
                </a:cubicBezTo>
                <a:cubicBezTo>
                  <a:pt x="150178" y="367367"/>
                  <a:pt x="137398" y="371296"/>
                  <a:pt x="124222" y="371296"/>
                </a:cubicBezTo>
                <a:cubicBezTo>
                  <a:pt x="83661" y="371296"/>
                  <a:pt x="50800" y="334328"/>
                  <a:pt x="50800" y="288697"/>
                </a:cubicBezTo>
                <a:cubicBezTo>
                  <a:pt x="50800" y="266819"/>
                  <a:pt x="58499" y="245834"/>
                  <a:pt x="72311" y="230297"/>
                </a:cubicBezTo>
                <a:lnTo>
                  <a:pt x="110887" y="186898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0" y="4254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外部数据对不上号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DBC、Simulink、Excel 与 ARXML 名称不一致难追溯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6096000"/>
            <a:ext cx="14732000" cy="177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905000" y="6286500"/>
            <a:ext cx="1320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插件目标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将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 解析、知识管理、代码生成、质量报告、知识图谱、编译管理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统一到一个工作流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并把 DBC、Excel、Simulink 拉进同一张图，直接在 VS Code 里完成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环境准备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插件安装与工程准备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222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24000" y="2222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安装插件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2794000"/>
            <a:ext cx="6858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29464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打开扩展面板，选择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Install from VSIX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找到插件文件：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apps/vscode/dist/claude-dev-3.89.2-bms-autosar.vsix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安装完成后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Reload Window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0" y="2222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打开工程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82000" y="27940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6000" y="29464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→ Open Folder，选择示例工程：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AUTOSAR-BMS--main/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包含 ARXML、Simulink 模型、C 代码、CANoe 配置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14732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500" y="514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4953000"/>
            <a:ext cx="1358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提示：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实际工作中，将示例工程替换为自己的英飞凌芯片工程目录即可，整个流程完全一致。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715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示例工程结构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6096000"/>
            <a:ext cx="14732000" cy="218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6184900"/>
            <a:ext cx="14224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AUTOSAR-BMS--main/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├── </a:t>
            </a:r>
            <a:pPr algn="l">
              <a:lnSpc>
                <a:spcPct val="170000"/>
              </a:lnSpc>
            </a:pPr>
            <a:r>
              <a:rPr lang="en-US" sz="1300" b="1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Arxml/</a:t>
            </a:r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ECU_Composition.arxml  ............  AUTOSAR 架构描述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├── </a:t>
            </a:r>
            <a:pPr algn="l">
              <a:lnSpc>
                <a:spcPct val="170000"/>
              </a:lnSpc>
            </a:pPr>
            <a:r>
              <a:rPr lang="en-US" sz="1300" b="1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Model/DD/</a:t>
            </a:r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data.m  ..........................  Simulink 数据字典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├── </a:t>
            </a:r>
            <a:pPr algn="l">
              <a:lnSpc>
                <a:spcPct val="170000"/>
              </a:lnSpc>
            </a:pPr>
            <a:r>
              <a:rPr lang="en-US" sz="1300" b="1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Code/</a:t>
            </a:r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*.c / *.h  .......................  C 代码实现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├── </a:t>
            </a:r>
            <a:pPr algn="l">
              <a:lnSpc>
                <a:spcPct val="170000"/>
              </a:lnSpc>
            </a:pPr>
            <a:r>
              <a:rPr lang="en-US" sz="1300" b="1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Tool/</a:t>
            </a:r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BMS_Interface.xlsx / BMS_Parameter.xlsx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└── </a:t>
            </a:r>
            <a:pPr algn="l">
              <a:lnSpc>
                <a:spcPct val="170000"/>
              </a:lnSpc>
            </a:pPr>
            <a:r>
              <a:rPr lang="en-US" sz="1300" b="1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Test/CANoe/</a:t>
            </a:r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BMS_CAN.dbc  ....................  CAN 矩阵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 AUTOSAR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469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4699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2413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Actions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9500" y="2984500"/>
            <a:ext cx="4064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一键进入五大核心功能：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Generator — 代码生成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Knowledge — 知识库管理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Compile — 编译管理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Quality Report — 质量报告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Knowledge Graph — 知识图谱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2095500"/>
            <a:ext cx="4699000" cy="6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0" y="2413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Metrics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96000" y="2984500"/>
            <a:ext cx="406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实时显示工程状态：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Quality Errors / Warnings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Knowledge Entries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Compile Profiles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Component Library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2095500"/>
            <a:ext cx="4699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125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1684000" y="2413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Recent Issues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12500" y="2984500"/>
            <a:ext cx="406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最近质量报告里的前几个问题：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展示最近扫描的异常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按严重程度排序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点击直达问题位置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096000"/>
            <a:ext cx="14732000" cy="101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635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841500" y="6096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设计思路：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先让开发者一眼看到全局状态，再决定下一步操作。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是整个功能的入口和导航中心。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nphlskrmgrs2/mnt/agents/output/bms-autosar-demo/images/2_Abstract_connected_glowing_nodes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1000"/>
                </a:srgbClr>
              </a:gs>
              <a:gs pos="60000">
                <a:srgbClr val="0F172A">
                  <a:alpha val="75000"/>
                </a:srgbClr>
              </a:gs>
              <a:gs pos="100000">
                <a:srgbClr val="0F172A">
                  <a:alpha val="56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1016000" cy="50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 知识图谱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5080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 —— 将复杂 ARXML 架构可视化，支持交互式探索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知识图谱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知识图谱可视化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95500"/>
            <a:ext cx="6604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选择 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ECU_Composition.arxml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后自动渲染全部 AUTOSAR 元素：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节点类型（颜色编码）：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绿色 — Application / Composition SWC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蓝色 — P-Port / R-Port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橙色 — Sender-Receiver / Client-Server Interface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紫色 — Runnable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84CC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黄绿色 — Data Type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灰色 — AR-PACKAGE 组合节点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74000" y="2095500"/>
            <a:ext cx="7620000" cy="374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1500" y="22860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边类型（关系）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91500" y="2768600"/>
            <a:ext cx="6985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contains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包含关系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/ requires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提供/依赖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实现关系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引用关系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triggers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触发关系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6096000"/>
            <a:ext cx="1473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6096000"/>
            <a:ext cx="63500" cy="1524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647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100" y="21431"/>
                </a:moveTo>
                <a:cubicBezTo>
                  <a:pt x="38100" y="9555"/>
                  <a:pt x="29607" y="0"/>
                  <a:pt x="19050" y="0"/>
                </a:cubicBezTo>
                <a:cubicBezTo>
                  <a:pt x="8493" y="0"/>
                  <a:pt x="0" y="9555"/>
                  <a:pt x="0" y="21431"/>
                </a:cubicBezTo>
                <a:lnTo>
                  <a:pt x="0" y="350044"/>
                </a:lnTo>
                <a:cubicBezTo>
                  <a:pt x="0" y="377636"/>
                  <a:pt x="19923" y="400050"/>
                  <a:pt x="44450" y="400050"/>
                </a:cubicBezTo>
                <a:lnTo>
                  <a:pt x="190500" y="400050"/>
                </a:lnTo>
                <a:lnTo>
                  <a:pt x="190500" y="357188"/>
                </a:lnTo>
                <a:lnTo>
                  <a:pt x="44450" y="357188"/>
                </a:lnTo>
                <a:cubicBezTo>
                  <a:pt x="40958" y="357188"/>
                  <a:pt x="38100" y="353973"/>
                  <a:pt x="38100" y="350044"/>
                </a:cubicBezTo>
                <a:lnTo>
                  <a:pt x="38100" y="142875"/>
                </a:lnTo>
                <a:lnTo>
                  <a:pt x="190500" y="142875"/>
                </a:lnTo>
                <a:lnTo>
                  <a:pt x="190500" y="100013"/>
                </a:lnTo>
                <a:lnTo>
                  <a:pt x="38100" y="100013"/>
                </a:lnTo>
                <a:lnTo>
                  <a:pt x="38100" y="21431"/>
                </a:lnTo>
                <a:close/>
                <a:moveTo>
                  <a:pt x="266700" y="200025"/>
                </a:moveTo>
                <a:lnTo>
                  <a:pt x="419100" y="200025"/>
                </a:lnTo>
                <a:cubicBezTo>
                  <a:pt x="440134" y="200025"/>
                  <a:pt x="457200" y="180826"/>
                  <a:pt x="457200" y="157163"/>
                </a:cubicBezTo>
                <a:lnTo>
                  <a:pt x="457200" y="71438"/>
                </a:lnTo>
                <a:cubicBezTo>
                  <a:pt x="457200" y="47774"/>
                  <a:pt x="440134" y="28575"/>
                  <a:pt x="419100" y="28575"/>
                </a:cubicBezTo>
                <a:lnTo>
                  <a:pt x="353457" y="28575"/>
                </a:lnTo>
                <a:cubicBezTo>
                  <a:pt x="346710" y="28575"/>
                  <a:pt x="340281" y="25539"/>
                  <a:pt x="335518" y="20181"/>
                </a:cubicBezTo>
                <a:lnTo>
                  <a:pt x="328692" y="12502"/>
                </a:lnTo>
                <a:cubicBezTo>
                  <a:pt x="321548" y="4465"/>
                  <a:pt x="311864" y="-89"/>
                  <a:pt x="301784" y="-89"/>
                </a:cubicBezTo>
                <a:lnTo>
                  <a:pt x="266700" y="0"/>
                </a:lnTo>
                <a:cubicBezTo>
                  <a:pt x="245666" y="0"/>
                  <a:pt x="228600" y="19199"/>
                  <a:pt x="228600" y="42863"/>
                </a:cubicBezTo>
                <a:lnTo>
                  <a:pt x="228600" y="157163"/>
                </a:lnTo>
                <a:cubicBezTo>
                  <a:pt x="228600" y="180826"/>
                  <a:pt x="245666" y="200025"/>
                  <a:pt x="266700" y="200025"/>
                </a:cubicBezTo>
                <a:close/>
                <a:moveTo>
                  <a:pt x="266700" y="457200"/>
                </a:moveTo>
                <a:lnTo>
                  <a:pt x="419100" y="457200"/>
                </a:lnTo>
                <a:cubicBezTo>
                  <a:pt x="440134" y="457200"/>
                  <a:pt x="457200" y="438001"/>
                  <a:pt x="457200" y="414338"/>
                </a:cubicBezTo>
                <a:lnTo>
                  <a:pt x="457200" y="328613"/>
                </a:lnTo>
                <a:cubicBezTo>
                  <a:pt x="457200" y="304949"/>
                  <a:pt x="440134" y="285750"/>
                  <a:pt x="419100" y="285750"/>
                </a:cubicBezTo>
                <a:lnTo>
                  <a:pt x="353457" y="285750"/>
                </a:lnTo>
                <a:cubicBezTo>
                  <a:pt x="346710" y="285750"/>
                  <a:pt x="340281" y="282714"/>
                  <a:pt x="335518" y="277356"/>
                </a:cubicBezTo>
                <a:lnTo>
                  <a:pt x="328692" y="269677"/>
                </a:lnTo>
                <a:cubicBezTo>
                  <a:pt x="321548" y="261640"/>
                  <a:pt x="311864" y="257086"/>
                  <a:pt x="301784" y="257086"/>
                </a:cubicBezTo>
                <a:lnTo>
                  <a:pt x="266700" y="257175"/>
                </a:lnTo>
                <a:cubicBezTo>
                  <a:pt x="245666" y="257175"/>
                  <a:pt x="228600" y="276374"/>
                  <a:pt x="228600" y="300038"/>
                </a:cubicBezTo>
                <a:lnTo>
                  <a:pt x="228600" y="414338"/>
                </a:lnTo>
                <a:cubicBezTo>
                  <a:pt x="228600" y="438001"/>
                  <a:pt x="245666" y="457200"/>
                  <a:pt x="266700" y="45720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841500" y="6223000"/>
            <a:ext cx="1333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AR-PACKAGE 组合节点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所有属于同一个包的 SWC、Port、Interface 自动收进灰色组合节点，像文件夹一样先看清包层级，再钻进去看细节。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点击组件节点，相关节点和边高亮，不相关的变淡 —— 快速回答"这个数据类型被哪些接口引用"。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知识图谱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图谱交互与导航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342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432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类型过滤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点击图例隐藏/显示某类节点，如隐藏 DataType 只看架构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08500" y="2095500"/>
            <a:ext cx="342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25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66675"/>
                </a:moveTo>
                <a:cubicBezTo>
                  <a:pt x="355600" y="101540"/>
                  <a:pt x="314553" y="153561"/>
                  <a:pt x="296843" y="174327"/>
                </a:cubicBezTo>
                <a:cubicBezTo>
                  <a:pt x="294203" y="177383"/>
                  <a:pt x="290314" y="178564"/>
                  <a:pt x="286772" y="177800"/>
                </a:cubicBezTo>
                <a:lnTo>
                  <a:pt x="222250" y="177800"/>
                </a:lnTo>
                <a:cubicBezTo>
                  <a:pt x="209957" y="177800"/>
                  <a:pt x="200025" y="187732"/>
                  <a:pt x="200025" y="200025"/>
                </a:cubicBezTo>
                <a:cubicBezTo>
                  <a:pt x="200025" y="212318"/>
                  <a:pt x="209957" y="222250"/>
                  <a:pt x="222250" y="222250"/>
                </a:cubicBezTo>
                <a:lnTo>
                  <a:pt x="288925" y="222250"/>
                </a:lnTo>
                <a:cubicBezTo>
                  <a:pt x="325735" y="222250"/>
                  <a:pt x="355600" y="252115"/>
                  <a:pt x="355600" y="288925"/>
                </a:cubicBezTo>
                <a:cubicBezTo>
                  <a:pt x="355600" y="325735"/>
                  <a:pt x="325735" y="355600"/>
                  <a:pt x="288925" y="355600"/>
                </a:cubicBezTo>
                <a:lnTo>
                  <a:pt x="96957" y="355600"/>
                </a:lnTo>
                <a:cubicBezTo>
                  <a:pt x="102999" y="348724"/>
                  <a:pt x="110361" y="339904"/>
                  <a:pt x="117793" y="330041"/>
                </a:cubicBezTo>
                <a:cubicBezTo>
                  <a:pt x="122168" y="324207"/>
                  <a:pt x="126683" y="317818"/>
                  <a:pt x="130989" y="311150"/>
                </a:cubicBezTo>
                <a:lnTo>
                  <a:pt x="288925" y="311150"/>
                </a:lnTo>
                <a:cubicBezTo>
                  <a:pt x="301218" y="311150"/>
                  <a:pt x="311150" y="301218"/>
                  <a:pt x="311150" y="288925"/>
                </a:cubicBezTo>
                <a:cubicBezTo>
                  <a:pt x="311150" y="276632"/>
                  <a:pt x="301218" y="266700"/>
                  <a:pt x="288925" y="266700"/>
                </a:cubicBezTo>
                <a:lnTo>
                  <a:pt x="222250" y="266700"/>
                </a:lnTo>
                <a:cubicBezTo>
                  <a:pt x="185440" y="266700"/>
                  <a:pt x="155575" y="236835"/>
                  <a:pt x="155575" y="200025"/>
                </a:cubicBezTo>
                <a:cubicBezTo>
                  <a:pt x="155575" y="163215"/>
                  <a:pt x="185440" y="133350"/>
                  <a:pt x="222250" y="133350"/>
                </a:cubicBezTo>
                <a:lnTo>
                  <a:pt x="249892" y="133350"/>
                </a:lnTo>
                <a:cubicBezTo>
                  <a:pt x="235307" y="111472"/>
                  <a:pt x="222250" y="86330"/>
                  <a:pt x="222250" y="66675"/>
                </a:cubicBezTo>
                <a:cubicBezTo>
                  <a:pt x="222250" y="29865"/>
                  <a:pt x="252115" y="0"/>
                  <a:pt x="288925" y="0"/>
                </a:cubicBezTo>
                <a:cubicBezTo>
                  <a:pt x="325735" y="0"/>
                  <a:pt x="355600" y="29865"/>
                  <a:pt x="355600" y="66675"/>
                </a:cubicBezTo>
                <a:close/>
                <a:moveTo>
                  <a:pt x="81330" y="339695"/>
                </a:moveTo>
                <a:cubicBezTo>
                  <a:pt x="78690" y="342682"/>
                  <a:pt x="76329" y="345321"/>
                  <a:pt x="74315" y="347543"/>
                </a:cubicBezTo>
                <a:lnTo>
                  <a:pt x="73065" y="348933"/>
                </a:lnTo>
                <a:lnTo>
                  <a:pt x="72926" y="348794"/>
                </a:lnTo>
                <a:cubicBezTo>
                  <a:pt x="68759" y="351988"/>
                  <a:pt x="62786" y="351572"/>
                  <a:pt x="59035" y="347543"/>
                </a:cubicBezTo>
                <a:cubicBezTo>
                  <a:pt x="41533" y="328513"/>
                  <a:pt x="0" y="279549"/>
                  <a:pt x="0" y="244475"/>
                </a:cubicBezTo>
                <a:cubicBezTo>
                  <a:pt x="0" y="207665"/>
                  <a:pt x="29865" y="177800"/>
                  <a:pt x="66675" y="177800"/>
                </a:cubicBezTo>
                <a:cubicBezTo>
                  <a:pt x="103485" y="177800"/>
                  <a:pt x="133350" y="207665"/>
                  <a:pt x="133350" y="244475"/>
                </a:cubicBezTo>
                <a:cubicBezTo>
                  <a:pt x="133350" y="265311"/>
                  <a:pt x="118695" y="291009"/>
                  <a:pt x="103138" y="312470"/>
                </a:cubicBezTo>
                <a:cubicBezTo>
                  <a:pt x="95706" y="322679"/>
                  <a:pt x="88067" y="331916"/>
                  <a:pt x="81746" y="339209"/>
                </a:cubicBezTo>
                <a:lnTo>
                  <a:pt x="81330" y="339695"/>
                </a:lnTo>
                <a:close/>
                <a:moveTo>
                  <a:pt x="88900" y="244475"/>
                </a:moveTo>
                <a:cubicBezTo>
                  <a:pt x="88900" y="232209"/>
                  <a:pt x="78941" y="222250"/>
                  <a:pt x="66675" y="222250"/>
                </a:cubicBezTo>
                <a:cubicBezTo>
                  <a:pt x="54409" y="222250"/>
                  <a:pt x="44450" y="232209"/>
                  <a:pt x="44450" y="244475"/>
                </a:cubicBezTo>
                <a:cubicBezTo>
                  <a:pt x="44450" y="256741"/>
                  <a:pt x="54409" y="266700"/>
                  <a:pt x="66675" y="266700"/>
                </a:cubicBezTo>
                <a:cubicBezTo>
                  <a:pt x="78941" y="266700"/>
                  <a:pt x="88900" y="256741"/>
                  <a:pt x="88900" y="244475"/>
                </a:cubicBezTo>
                <a:close/>
                <a:moveTo>
                  <a:pt x="288925" y="88900"/>
                </a:moveTo>
                <a:cubicBezTo>
                  <a:pt x="301191" y="88900"/>
                  <a:pt x="311150" y="78941"/>
                  <a:pt x="311150" y="66675"/>
                </a:cubicBezTo>
                <a:cubicBezTo>
                  <a:pt x="311150" y="54409"/>
                  <a:pt x="301191" y="44450"/>
                  <a:pt x="288925" y="44450"/>
                </a:cubicBezTo>
                <a:cubicBezTo>
                  <a:pt x="276659" y="44450"/>
                  <a:pt x="266700" y="54409"/>
                  <a:pt x="266700" y="66675"/>
                </a:cubicBezTo>
                <a:cubicBezTo>
                  <a:pt x="266700" y="78941"/>
                  <a:pt x="276659" y="88900"/>
                  <a:pt x="288925" y="8890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762500" y="27432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关系过滤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只保留 triggers 或 requires/provides 等特定关系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55000" y="2095500"/>
            <a:ext cx="342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90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27432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搜索定位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输入名称快速定位节点，如搜"ISH"保留相关节点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001500" y="2095500"/>
            <a:ext cx="34925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55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2255500" y="27432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布局切换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Force / Hierarchical / Grid / Circle / Concentric 多种算法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4381500"/>
            <a:ext cx="469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6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93543" y="182662"/>
                </a:moveTo>
                <a:cubicBezTo>
                  <a:pt x="184838" y="176133"/>
                  <a:pt x="170762" y="176133"/>
                  <a:pt x="162150" y="182662"/>
                </a:cubicBezTo>
                <a:lnTo>
                  <a:pt x="102883" y="227112"/>
                </a:lnTo>
                <a:cubicBezTo>
                  <a:pt x="94178" y="233640"/>
                  <a:pt x="94178" y="244197"/>
                  <a:pt x="102883" y="250656"/>
                </a:cubicBezTo>
                <a:cubicBezTo>
                  <a:pt x="111588" y="257115"/>
                  <a:pt x="125664" y="257185"/>
                  <a:pt x="134276" y="250656"/>
                </a:cubicBezTo>
                <a:lnTo>
                  <a:pt x="155575" y="234682"/>
                </a:lnTo>
                <a:lnTo>
                  <a:pt x="155575" y="294481"/>
                </a:lnTo>
                <a:cubicBezTo>
                  <a:pt x="155575" y="303719"/>
                  <a:pt x="165484" y="311150"/>
                  <a:pt x="177800" y="311150"/>
                </a:cubicBezTo>
                <a:cubicBezTo>
                  <a:pt x="190116" y="311150"/>
                  <a:pt x="200025" y="303719"/>
                  <a:pt x="200025" y="294481"/>
                </a:cubicBezTo>
                <a:lnTo>
                  <a:pt x="200025" y="234682"/>
                </a:lnTo>
                <a:lnTo>
                  <a:pt x="221324" y="250656"/>
                </a:lnTo>
                <a:cubicBezTo>
                  <a:pt x="230029" y="257185"/>
                  <a:pt x="244105" y="257185"/>
                  <a:pt x="252717" y="250656"/>
                </a:cubicBezTo>
                <a:cubicBezTo>
                  <a:pt x="261329" y="244128"/>
                  <a:pt x="261422" y="233571"/>
                  <a:pt x="252717" y="227112"/>
                </a:cubicBezTo>
                <a:lnTo>
                  <a:pt x="193450" y="182662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0292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源文件跳转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双击节点直接打开源 ARXML 并定位到对应行号，无需手动翻文件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778500" y="4381500"/>
            <a:ext cx="469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25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30989"/>
                </a:moveTo>
                <a:cubicBezTo>
                  <a:pt x="0" y="58618"/>
                  <a:pt x="79640" y="0"/>
                  <a:pt x="177800" y="0"/>
                </a:cubicBezTo>
                <a:cubicBezTo>
                  <a:pt x="275960" y="0"/>
                  <a:pt x="355600" y="58618"/>
                  <a:pt x="355600" y="130989"/>
                </a:cubicBezTo>
                <a:cubicBezTo>
                  <a:pt x="355600" y="213846"/>
                  <a:pt x="244290" y="313164"/>
                  <a:pt x="197803" y="351016"/>
                </a:cubicBezTo>
                <a:cubicBezTo>
                  <a:pt x="186875" y="359906"/>
                  <a:pt x="168632" y="359906"/>
                  <a:pt x="157705" y="351016"/>
                </a:cubicBezTo>
                <a:cubicBezTo>
                  <a:pt x="111218" y="313164"/>
                  <a:pt x="-93" y="213846"/>
                  <a:pt x="-93" y="130989"/>
                </a:cubicBezTo>
                <a:close/>
                <a:moveTo>
                  <a:pt x="177800" y="177800"/>
                </a:moveTo>
                <a:cubicBezTo>
                  <a:pt x="210510" y="177800"/>
                  <a:pt x="237067" y="157883"/>
                  <a:pt x="237067" y="133350"/>
                </a:cubicBezTo>
                <a:cubicBezTo>
                  <a:pt x="237067" y="108817"/>
                  <a:pt x="210510" y="88900"/>
                  <a:pt x="177800" y="88900"/>
                </a:cubicBezTo>
                <a:cubicBezTo>
                  <a:pt x="145090" y="88900"/>
                  <a:pt x="118533" y="108817"/>
                  <a:pt x="118533" y="133350"/>
                </a:cubicBezTo>
                <a:cubicBezTo>
                  <a:pt x="118533" y="157883"/>
                  <a:pt x="145090" y="177800"/>
                  <a:pt x="177800" y="17780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0" y="50292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面包屑导航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底部显示 Package / SubPackage / 节点名，点击包名自动聚焦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795000" y="4381500"/>
            <a:ext cx="469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49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3200" y="22225"/>
                </a:moveTo>
                <a:cubicBezTo>
                  <a:pt x="203200" y="9932"/>
                  <a:pt x="191849" y="0"/>
                  <a:pt x="177800" y="0"/>
                </a:cubicBezTo>
                <a:cubicBezTo>
                  <a:pt x="163751" y="0"/>
                  <a:pt x="152400" y="9932"/>
                  <a:pt x="152400" y="22225"/>
                </a:cubicBezTo>
                <a:lnTo>
                  <a:pt x="152400" y="168563"/>
                </a:lnTo>
                <a:lnTo>
                  <a:pt x="119539" y="139809"/>
                </a:lnTo>
                <a:cubicBezTo>
                  <a:pt x="109617" y="131128"/>
                  <a:pt x="93504" y="131128"/>
                  <a:pt x="83582" y="139809"/>
                </a:cubicBezTo>
                <a:cubicBezTo>
                  <a:pt x="73660" y="148491"/>
                  <a:pt x="73660" y="162590"/>
                  <a:pt x="83582" y="171271"/>
                </a:cubicBezTo>
                <a:lnTo>
                  <a:pt x="159782" y="237946"/>
                </a:lnTo>
                <a:cubicBezTo>
                  <a:pt x="169704" y="246628"/>
                  <a:pt x="185817" y="246628"/>
                  <a:pt x="195739" y="237946"/>
                </a:cubicBezTo>
                <a:lnTo>
                  <a:pt x="271939" y="171271"/>
                </a:lnTo>
                <a:cubicBezTo>
                  <a:pt x="281861" y="162590"/>
                  <a:pt x="281861" y="148491"/>
                  <a:pt x="271939" y="139809"/>
                </a:cubicBezTo>
                <a:cubicBezTo>
                  <a:pt x="262017" y="131128"/>
                  <a:pt x="245904" y="131128"/>
                  <a:pt x="235982" y="139809"/>
                </a:cubicBezTo>
                <a:lnTo>
                  <a:pt x="203200" y="168563"/>
                </a:lnTo>
                <a:lnTo>
                  <a:pt x="203200" y="22225"/>
                </a:lnTo>
                <a:close/>
                <a:moveTo>
                  <a:pt x="50800" y="222250"/>
                </a:moveTo>
                <a:cubicBezTo>
                  <a:pt x="22781" y="222250"/>
                  <a:pt x="0" y="242183"/>
                  <a:pt x="0" y="266700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266700"/>
                </a:lnTo>
                <a:cubicBezTo>
                  <a:pt x="355600" y="242183"/>
                  <a:pt x="332819" y="222250"/>
                  <a:pt x="304800" y="222250"/>
                </a:cubicBezTo>
                <a:lnTo>
                  <a:pt x="267573" y="222250"/>
                </a:lnTo>
                <a:lnTo>
                  <a:pt x="222647" y="261560"/>
                </a:lnTo>
                <a:cubicBezTo>
                  <a:pt x="197882" y="283230"/>
                  <a:pt x="157639" y="283230"/>
                  <a:pt x="132874" y="261560"/>
                </a:cubicBezTo>
                <a:lnTo>
                  <a:pt x="88027" y="222250"/>
                </a:lnTo>
                <a:lnTo>
                  <a:pt x="50800" y="222250"/>
                </a:lnTo>
                <a:close/>
                <a:moveTo>
                  <a:pt x="292100" y="261144"/>
                </a:moveTo>
                <a:cubicBezTo>
                  <a:pt x="302614" y="261144"/>
                  <a:pt x="311150" y="268613"/>
                  <a:pt x="311150" y="277813"/>
                </a:cubicBezTo>
                <a:cubicBezTo>
                  <a:pt x="311150" y="287012"/>
                  <a:pt x="302614" y="294481"/>
                  <a:pt x="292100" y="294481"/>
                </a:cubicBezTo>
                <a:cubicBezTo>
                  <a:pt x="281586" y="294481"/>
                  <a:pt x="273050" y="287012"/>
                  <a:pt x="273050" y="277813"/>
                </a:cubicBezTo>
                <a:cubicBezTo>
                  <a:pt x="273050" y="268613"/>
                  <a:pt x="281586" y="261144"/>
                  <a:pt x="292100" y="261144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0" y="50292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导出功能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支持导出 PNG（贴 PPT）和 Mermaid（放 Markdown/Confluence）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nphlskrmgrs2/mnt/agents/output/bms-autosar-demo/images/7_Abstract_Representation_Blue_Connected.png">    </p:cNvPr>
          <p:cNvPicPr>
            <a:picLocks noChangeAspect="1"/>
          </p:cNvPicPr>
          <p:nvPr/>
        </p:nvPicPr>
        <p:blipFill>
          <a:blip r:embed="rId1"/>
          <a:srcRect l="222" r="22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1000"/>
                </a:srgbClr>
              </a:gs>
              <a:gs pos="60000">
                <a:srgbClr val="0F172A">
                  <a:alpha val="75000"/>
                </a:srgbClr>
              </a:gs>
              <a:gs pos="100000">
                <a:srgbClr val="0F172A">
                  <a:alpha val="56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1016000" cy="50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外部数据联动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5080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将 DBC、Excel、Simulink 数据字典挂到同一张知识图谱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外部数据联动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DBC 与 Excel 联动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63500" cy="3175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2349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DBC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9210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选择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BMS_CAN.dbc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，自动解析 CAN 信号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图谱新增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橙色 CAN-SIGNAL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节点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按信号名与 ARXML 节点建立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关系（黄色边）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Tooltip 显示：所属报文、报文 ID、起始位、长度、单位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095500"/>
            <a:ext cx="7112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2095500"/>
            <a:ext cx="63500" cy="3175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7630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32229" y="127000"/>
                </a:moveTo>
                <a:lnTo>
                  <a:pt x="232229" y="203200"/>
                </a:lnTo>
                <a:lnTo>
                  <a:pt x="348343" y="203200"/>
                </a:lnTo>
                <a:lnTo>
                  <a:pt x="348343" y="127000"/>
                </a:lnTo>
                <a:lnTo>
                  <a:pt x="232229" y="127000"/>
                </a:lnTo>
                <a:close/>
                <a:moveTo>
                  <a:pt x="174171" y="127000"/>
                </a:moveTo>
                <a:lnTo>
                  <a:pt x="58057" y="127000"/>
                </a:lnTo>
                <a:lnTo>
                  <a:pt x="58057" y="203200"/>
                </a:lnTo>
                <a:lnTo>
                  <a:pt x="174171" y="203200"/>
                </a:lnTo>
                <a:lnTo>
                  <a:pt x="174171" y="127000"/>
                </a:lnTo>
                <a:close/>
                <a:moveTo>
                  <a:pt x="0" y="254000"/>
                </a:moveTo>
                <a:lnTo>
                  <a:pt x="0" y="76200"/>
                </a:lnTo>
                <a:cubicBezTo>
                  <a:pt x="0" y="48181"/>
                  <a:pt x="26035" y="25400"/>
                  <a:pt x="58057" y="25400"/>
                </a:cubicBezTo>
                <a:lnTo>
                  <a:pt x="348343" y="25400"/>
                </a:lnTo>
                <a:cubicBezTo>
                  <a:pt x="380365" y="25400"/>
                  <a:pt x="406400" y="48181"/>
                  <a:pt x="406400" y="76200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254000"/>
                </a:lnTo>
                <a:close/>
                <a:moveTo>
                  <a:pt x="348343" y="254000"/>
                </a:moveTo>
                <a:lnTo>
                  <a:pt x="232229" y="254000"/>
                </a:lnTo>
                <a:lnTo>
                  <a:pt x="232229" y="330200"/>
                </a:lnTo>
                <a:lnTo>
                  <a:pt x="348343" y="330200"/>
                </a:lnTo>
                <a:lnTo>
                  <a:pt x="348343" y="254000"/>
                </a:lnTo>
                <a:close/>
                <a:moveTo>
                  <a:pt x="174171" y="330200"/>
                </a:moveTo>
                <a:lnTo>
                  <a:pt x="174171" y="254000"/>
                </a:lnTo>
                <a:lnTo>
                  <a:pt x="58057" y="254000"/>
                </a:lnTo>
                <a:lnTo>
                  <a:pt x="58057" y="330200"/>
                </a:lnTo>
                <a:lnTo>
                  <a:pt x="174171" y="33020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2349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Excel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63000" y="2921000"/>
            <a:ext cx="6477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选择接口表或参数表：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BMS_Interface.xlsx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BMS_Parameter.xlsx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新增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紫色 EXCEL-INTERFACE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节点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按第一列接口名自动与 ARXML 同名元素关联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651500"/>
            <a:ext cx="14732000" cy="6985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" y="581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5651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说明：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当前 demo DBC 的底层解析器只解析出消息、未解析出信号，示例工程可能看不到信号节点。这是 demo 数据格式问题，实际英飞凌项目的 DBC 可正常解析。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2000" y="6731000"/>
            <a:ext cx="14732000" cy="139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711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2978" y="85725"/>
                </a:moveTo>
                <a:cubicBezTo>
                  <a:pt x="319802" y="85725"/>
                  <a:pt x="307023" y="89743"/>
                  <a:pt x="295831" y="97066"/>
                </a:cubicBezTo>
                <a:cubicBezTo>
                  <a:pt x="283289" y="82778"/>
                  <a:pt x="268684" y="70812"/>
                  <a:pt x="252571" y="61793"/>
                </a:cubicBezTo>
                <a:cubicBezTo>
                  <a:pt x="274955" y="40362"/>
                  <a:pt x="303451" y="28575"/>
                  <a:pt x="332978" y="28575"/>
                </a:cubicBezTo>
                <a:cubicBezTo>
                  <a:pt x="401558" y="28575"/>
                  <a:pt x="457200" y="91083"/>
                  <a:pt x="457200" y="168325"/>
                </a:cubicBezTo>
                <a:cubicBezTo>
                  <a:pt x="457200" y="205383"/>
                  <a:pt x="444103" y="240923"/>
                  <a:pt x="420846" y="267087"/>
                </a:cubicBezTo>
                <a:lnTo>
                  <a:pt x="364411" y="330577"/>
                </a:lnTo>
                <a:cubicBezTo>
                  <a:pt x="341154" y="356741"/>
                  <a:pt x="309563" y="371475"/>
                  <a:pt x="276622" y="371475"/>
                </a:cubicBezTo>
                <a:cubicBezTo>
                  <a:pt x="208042" y="371475"/>
                  <a:pt x="152400" y="308967"/>
                  <a:pt x="152400" y="231725"/>
                </a:cubicBezTo>
                <a:cubicBezTo>
                  <a:pt x="152400" y="230386"/>
                  <a:pt x="152400" y="229046"/>
                  <a:pt x="152479" y="227707"/>
                </a:cubicBezTo>
                <a:cubicBezTo>
                  <a:pt x="152876" y="211901"/>
                  <a:pt x="164544" y="199489"/>
                  <a:pt x="178594" y="199936"/>
                </a:cubicBezTo>
                <a:cubicBezTo>
                  <a:pt x="192643" y="200382"/>
                  <a:pt x="203676" y="213509"/>
                  <a:pt x="203279" y="229314"/>
                </a:cubicBezTo>
                <a:cubicBezTo>
                  <a:pt x="203279" y="230118"/>
                  <a:pt x="203279" y="230922"/>
                  <a:pt x="203279" y="231636"/>
                </a:cubicBezTo>
                <a:cubicBezTo>
                  <a:pt x="203279" y="277267"/>
                  <a:pt x="236141" y="314236"/>
                  <a:pt x="276701" y="314236"/>
                </a:cubicBezTo>
                <a:cubicBezTo>
                  <a:pt x="296148" y="314236"/>
                  <a:pt x="314801" y="305574"/>
                  <a:pt x="328613" y="290036"/>
                </a:cubicBezTo>
                <a:lnTo>
                  <a:pt x="385048" y="226546"/>
                </a:lnTo>
                <a:cubicBezTo>
                  <a:pt x="398780" y="211098"/>
                  <a:pt x="406559" y="190024"/>
                  <a:pt x="406559" y="168146"/>
                </a:cubicBezTo>
                <a:cubicBezTo>
                  <a:pt x="406559" y="122515"/>
                  <a:pt x="373698" y="85546"/>
                  <a:pt x="333137" y="85546"/>
                </a:cubicBezTo>
                <a:close/>
                <a:moveTo>
                  <a:pt x="218440" y="154751"/>
                </a:moveTo>
                <a:cubicBezTo>
                  <a:pt x="216932" y="154037"/>
                  <a:pt x="215424" y="153055"/>
                  <a:pt x="214074" y="151983"/>
                </a:cubicBezTo>
                <a:cubicBezTo>
                  <a:pt x="204073" y="146179"/>
                  <a:pt x="192643" y="142875"/>
                  <a:pt x="180658" y="142875"/>
                </a:cubicBezTo>
                <a:cubicBezTo>
                  <a:pt x="161211" y="142875"/>
                  <a:pt x="142558" y="151537"/>
                  <a:pt x="128746" y="167074"/>
                </a:cubicBezTo>
                <a:lnTo>
                  <a:pt x="72311" y="230565"/>
                </a:lnTo>
                <a:cubicBezTo>
                  <a:pt x="58579" y="246013"/>
                  <a:pt x="50800" y="267087"/>
                  <a:pt x="50800" y="288965"/>
                </a:cubicBezTo>
                <a:cubicBezTo>
                  <a:pt x="50800" y="334595"/>
                  <a:pt x="83661" y="371564"/>
                  <a:pt x="124222" y="371564"/>
                </a:cubicBezTo>
                <a:cubicBezTo>
                  <a:pt x="137319" y="371564"/>
                  <a:pt x="150098" y="367635"/>
                  <a:pt x="161290" y="360313"/>
                </a:cubicBezTo>
                <a:cubicBezTo>
                  <a:pt x="173831" y="374600"/>
                  <a:pt x="188436" y="386566"/>
                  <a:pt x="204629" y="395585"/>
                </a:cubicBezTo>
                <a:cubicBezTo>
                  <a:pt x="182245" y="416927"/>
                  <a:pt x="153829" y="428804"/>
                  <a:pt x="124222" y="428804"/>
                </a:cubicBezTo>
                <a:cubicBezTo>
                  <a:pt x="55642" y="428804"/>
                  <a:pt x="0" y="366296"/>
                  <a:pt x="0" y="289054"/>
                </a:cubicBezTo>
                <a:cubicBezTo>
                  <a:pt x="0" y="251996"/>
                  <a:pt x="13097" y="216456"/>
                  <a:pt x="36354" y="190292"/>
                </a:cubicBezTo>
                <a:lnTo>
                  <a:pt x="92789" y="126802"/>
                </a:lnTo>
                <a:cubicBezTo>
                  <a:pt x="116046" y="100638"/>
                  <a:pt x="147638" y="85904"/>
                  <a:pt x="180578" y="85904"/>
                </a:cubicBezTo>
                <a:cubicBezTo>
                  <a:pt x="249317" y="85904"/>
                  <a:pt x="304800" y="148947"/>
                  <a:pt x="304800" y="226010"/>
                </a:cubicBezTo>
                <a:cubicBezTo>
                  <a:pt x="304800" y="227171"/>
                  <a:pt x="304800" y="228332"/>
                  <a:pt x="304800" y="229493"/>
                </a:cubicBezTo>
                <a:cubicBezTo>
                  <a:pt x="304483" y="245299"/>
                  <a:pt x="292814" y="257711"/>
                  <a:pt x="278765" y="257354"/>
                </a:cubicBezTo>
                <a:cubicBezTo>
                  <a:pt x="264716" y="256996"/>
                  <a:pt x="253682" y="243870"/>
                  <a:pt x="254000" y="228064"/>
                </a:cubicBezTo>
                <a:cubicBezTo>
                  <a:pt x="254000" y="227350"/>
                  <a:pt x="254000" y="226725"/>
                  <a:pt x="254000" y="226010"/>
                </a:cubicBezTo>
                <a:cubicBezTo>
                  <a:pt x="254000" y="195917"/>
                  <a:pt x="239713" y="169485"/>
                  <a:pt x="218440" y="15493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841500" y="68580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核心价值：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快速发现某个 DBC 信号在 ARXML 里有没有对应接口，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 里定义的参数在 Simulink 和 ARXML 里是否一致。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外部数据联动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Simulink 数据字典联动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63500" cy="3556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038" y="-1984"/>
                </a:moveTo>
                <a:cubicBezTo>
                  <a:pt x="193754" y="-11033"/>
                  <a:pt x="213122" y="-11033"/>
                  <a:pt x="228838" y="-1984"/>
                </a:cubicBezTo>
                <a:lnTo>
                  <a:pt x="368459" y="78581"/>
                </a:lnTo>
                <a:cubicBezTo>
                  <a:pt x="384175" y="87630"/>
                  <a:pt x="393859" y="104458"/>
                  <a:pt x="393859" y="122555"/>
                </a:cubicBezTo>
                <a:lnTo>
                  <a:pt x="393859" y="283686"/>
                </a:lnTo>
                <a:cubicBezTo>
                  <a:pt x="393859" y="301863"/>
                  <a:pt x="384175" y="318611"/>
                  <a:pt x="368459" y="327660"/>
                </a:cubicBezTo>
                <a:lnTo>
                  <a:pt x="228838" y="408384"/>
                </a:lnTo>
                <a:cubicBezTo>
                  <a:pt x="213122" y="417433"/>
                  <a:pt x="193754" y="417433"/>
                  <a:pt x="178038" y="408384"/>
                </a:cubicBezTo>
                <a:lnTo>
                  <a:pt x="38497" y="327819"/>
                </a:lnTo>
                <a:cubicBezTo>
                  <a:pt x="22781" y="318770"/>
                  <a:pt x="13097" y="301943"/>
                  <a:pt x="13097" y="283845"/>
                </a:cubicBezTo>
                <a:lnTo>
                  <a:pt x="13097" y="122714"/>
                </a:lnTo>
                <a:cubicBezTo>
                  <a:pt x="13097" y="104537"/>
                  <a:pt x="22781" y="87789"/>
                  <a:pt x="38497" y="78740"/>
                </a:cubicBezTo>
                <a:lnTo>
                  <a:pt x="178038" y="-1984"/>
                </a:lnTo>
                <a:close/>
                <a:moveTo>
                  <a:pt x="342979" y="283766"/>
                </a:moveTo>
                <a:lnTo>
                  <a:pt x="342979" y="151924"/>
                </a:lnTo>
                <a:lnTo>
                  <a:pt x="228838" y="217805"/>
                </a:lnTo>
                <a:lnTo>
                  <a:pt x="228838" y="349647"/>
                </a:lnTo>
                <a:lnTo>
                  <a:pt x="342979" y="283766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234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Simulink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921000"/>
            <a:ext cx="647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选择 Simulink 数据字典目录：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AUTOSAR-BMS--main/Model/DD/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自动解析三种数据类型定义：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Simulink.NumericType — 数值类型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Simulink.defineIntEnumType — 枚举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Simulink.AliasType — 别名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095500"/>
            <a:ext cx="7112000" cy="336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2095500"/>
            <a:ext cx="63500" cy="3365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630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234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统一混合图谱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63000" y="2921000"/>
            <a:ext cx="647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同一张图里同时包含：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灰色 AR-PACKAGE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绿色 SWC　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蓝色 Port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橙色 CAN-SIGNAL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紫色 EXCEL-INTERFACE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C48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粉色 SIMULINK-DATA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715000"/>
            <a:ext cx="14732000" cy="50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0199" y="288925"/>
                </a:moveTo>
                <a:lnTo>
                  <a:pt x="186134" y="288925"/>
                </a:lnTo>
                <a:lnTo>
                  <a:pt x="226448" y="243572"/>
                </a:lnTo>
                <a:lnTo>
                  <a:pt x="119336" y="123071"/>
                </a:lnTo>
                <a:lnTo>
                  <a:pt x="41116" y="211068"/>
                </a:lnTo>
                <a:lnTo>
                  <a:pt x="110261" y="288856"/>
                </a:lnTo>
                <a:close/>
                <a:moveTo>
                  <a:pt x="138289" y="333375"/>
                </a:moveTo>
                <a:lnTo>
                  <a:pt x="110199" y="333375"/>
                </a:lnTo>
                <a:cubicBezTo>
                  <a:pt x="99704" y="333375"/>
                  <a:pt x="89641" y="328722"/>
                  <a:pt x="82233" y="320387"/>
                </a:cubicBezTo>
                <a:lnTo>
                  <a:pt x="10495" y="239613"/>
                </a:lnTo>
                <a:cubicBezTo>
                  <a:pt x="3766" y="232043"/>
                  <a:pt x="0" y="221833"/>
                  <a:pt x="0" y="211138"/>
                </a:cubicBezTo>
                <a:cubicBezTo>
                  <a:pt x="0" y="200442"/>
                  <a:pt x="3766" y="190232"/>
                  <a:pt x="10495" y="182662"/>
                </a:cubicBezTo>
                <a:lnTo>
                  <a:pt x="162366" y="11807"/>
                </a:lnTo>
                <a:cubicBezTo>
                  <a:pt x="169095" y="4237"/>
                  <a:pt x="178170" y="0"/>
                  <a:pt x="187678" y="0"/>
                </a:cubicBezTo>
                <a:cubicBezTo>
                  <a:pt x="197185" y="0"/>
                  <a:pt x="206260" y="4237"/>
                  <a:pt x="212990" y="11807"/>
                </a:cubicBezTo>
                <a:lnTo>
                  <a:pt x="325349" y="138212"/>
                </a:lnTo>
                <a:cubicBezTo>
                  <a:pt x="332079" y="145782"/>
                  <a:pt x="335844" y="155992"/>
                  <a:pt x="335844" y="166688"/>
                </a:cubicBezTo>
                <a:cubicBezTo>
                  <a:pt x="335844" y="177383"/>
                  <a:pt x="332079" y="187593"/>
                  <a:pt x="325349" y="195163"/>
                </a:cubicBezTo>
                <a:lnTo>
                  <a:pt x="242006" y="288925"/>
                </a:lnTo>
                <a:lnTo>
                  <a:pt x="316089" y="288925"/>
                </a:lnTo>
                <a:cubicBezTo>
                  <a:pt x="327016" y="288925"/>
                  <a:pt x="335844" y="298857"/>
                  <a:pt x="335844" y="311150"/>
                </a:cubicBezTo>
                <a:cubicBezTo>
                  <a:pt x="335844" y="323443"/>
                  <a:pt x="327016" y="333375"/>
                  <a:pt x="316089" y="333375"/>
                </a:cubicBezTo>
                <a:lnTo>
                  <a:pt x="138289" y="333375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1587500" y="5715000"/>
            <a:ext cx="1358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功能：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点击顶部 Clear 图标，一键移除所有外部节点和连边，回归纯 ARXML 架构视图。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477000"/>
            <a:ext cx="14732000" cy="139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6604000"/>
            <a:ext cx="1397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通过统一图谱可快速发现：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 DBC 信号在 ARXML 中是否有对应接口　●  Excel 参数在 Simulink/ARXML 中是否一致　●  Simulink 数据类型与 ARXML 是否同名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代码生成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代码生成 Generator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22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222500"/>
            <a:ext cx="3175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20320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074" y="-24110"/>
                </a:moveTo>
                <a:lnTo>
                  <a:pt x="220821" y="8751"/>
                </a:lnTo>
                <a:lnTo>
                  <a:pt x="250031" y="21967"/>
                </a:lnTo>
                <a:cubicBezTo>
                  <a:pt x="252413" y="23039"/>
                  <a:pt x="254000" y="25718"/>
                  <a:pt x="254000" y="28575"/>
                </a:cubicBezTo>
                <a:cubicBezTo>
                  <a:pt x="254000" y="31433"/>
                  <a:pt x="252413" y="34111"/>
                  <a:pt x="250031" y="35183"/>
                </a:cubicBezTo>
                <a:lnTo>
                  <a:pt x="220821" y="48399"/>
                </a:lnTo>
                <a:lnTo>
                  <a:pt x="209074" y="81260"/>
                </a:lnTo>
                <a:cubicBezTo>
                  <a:pt x="208121" y="83939"/>
                  <a:pt x="205740" y="85725"/>
                  <a:pt x="203200" y="85725"/>
                </a:cubicBezTo>
                <a:cubicBezTo>
                  <a:pt x="200660" y="85725"/>
                  <a:pt x="198279" y="83939"/>
                  <a:pt x="197326" y="81260"/>
                </a:cubicBezTo>
                <a:lnTo>
                  <a:pt x="185579" y="48399"/>
                </a:lnTo>
                <a:lnTo>
                  <a:pt x="156369" y="35183"/>
                </a:lnTo>
                <a:cubicBezTo>
                  <a:pt x="153988" y="34111"/>
                  <a:pt x="152400" y="31432"/>
                  <a:pt x="152400" y="28575"/>
                </a:cubicBezTo>
                <a:cubicBezTo>
                  <a:pt x="152400" y="25718"/>
                  <a:pt x="153988" y="23039"/>
                  <a:pt x="156369" y="21967"/>
                </a:cubicBezTo>
                <a:lnTo>
                  <a:pt x="185579" y="8751"/>
                </a:lnTo>
                <a:lnTo>
                  <a:pt x="197326" y="-24110"/>
                </a:lnTo>
                <a:cubicBezTo>
                  <a:pt x="198279" y="-26789"/>
                  <a:pt x="200660" y="-28575"/>
                  <a:pt x="203200" y="-28575"/>
                </a:cubicBezTo>
                <a:cubicBezTo>
                  <a:pt x="205740" y="-28575"/>
                  <a:pt x="208121" y="-26789"/>
                  <a:pt x="209074" y="-24110"/>
                </a:cubicBezTo>
                <a:close/>
                <a:moveTo>
                  <a:pt x="87868" y="37237"/>
                </a:moveTo>
                <a:lnTo>
                  <a:pt x="104934" y="81975"/>
                </a:lnTo>
                <a:lnTo>
                  <a:pt x="144701" y="101173"/>
                </a:lnTo>
                <a:cubicBezTo>
                  <a:pt x="149384" y="103406"/>
                  <a:pt x="152400" y="108585"/>
                  <a:pt x="152400" y="114300"/>
                </a:cubicBezTo>
                <a:cubicBezTo>
                  <a:pt x="152400" y="120015"/>
                  <a:pt x="149384" y="125194"/>
                  <a:pt x="144701" y="127427"/>
                </a:cubicBezTo>
                <a:lnTo>
                  <a:pt x="104934" y="146625"/>
                </a:lnTo>
                <a:lnTo>
                  <a:pt x="87868" y="191363"/>
                </a:lnTo>
                <a:cubicBezTo>
                  <a:pt x="85884" y="196632"/>
                  <a:pt x="81280" y="200025"/>
                  <a:pt x="76200" y="200025"/>
                </a:cubicBezTo>
                <a:cubicBezTo>
                  <a:pt x="71120" y="200025"/>
                  <a:pt x="66516" y="196632"/>
                  <a:pt x="64532" y="191363"/>
                </a:cubicBezTo>
                <a:lnTo>
                  <a:pt x="47466" y="146625"/>
                </a:lnTo>
                <a:lnTo>
                  <a:pt x="7699" y="127427"/>
                </a:lnTo>
                <a:cubicBezTo>
                  <a:pt x="3016" y="125194"/>
                  <a:pt x="0" y="120015"/>
                  <a:pt x="0" y="114300"/>
                </a:cubicBezTo>
                <a:cubicBezTo>
                  <a:pt x="0" y="108585"/>
                  <a:pt x="3016" y="103406"/>
                  <a:pt x="7699" y="101173"/>
                </a:cubicBezTo>
                <a:lnTo>
                  <a:pt x="47466" y="81975"/>
                </a:lnTo>
                <a:lnTo>
                  <a:pt x="64532" y="37237"/>
                </a:lnTo>
                <a:cubicBezTo>
                  <a:pt x="66516" y="31968"/>
                  <a:pt x="71120" y="28575"/>
                  <a:pt x="76200" y="28575"/>
                </a:cubicBezTo>
                <a:cubicBezTo>
                  <a:pt x="81280" y="28575"/>
                  <a:pt x="85884" y="31968"/>
                  <a:pt x="87868" y="37237"/>
                </a:cubicBezTo>
                <a:close/>
                <a:moveTo>
                  <a:pt x="368300" y="271463"/>
                </a:moveTo>
                <a:cubicBezTo>
                  <a:pt x="373380" y="271463"/>
                  <a:pt x="377984" y="274856"/>
                  <a:pt x="379968" y="280124"/>
                </a:cubicBezTo>
                <a:lnTo>
                  <a:pt x="397034" y="324862"/>
                </a:lnTo>
                <a:lnTo>
                  <a:pt x="436801" y="344061"/>
                </a:lnTo>
                <a:cubicBezTo>
                  <a:pt x="441484" y="346293"/>
                  <a:pt x="444500" y="351473"/>
                  <a:pt x="444500" y="357188"/>
                </a:cubicBezTo>
                <a:cubicBezTo>
                  <a:pt x="444500" y="362903"/>
                  <a:pt x="441484" y="368082"/>
                  <a:pt x="436801" y="370314"/>
                </a:cubicBezTo>
                <a:lnTo>
                  <a:pt x="397034" y="389513"/>
                </a:lnTo>
                <a:lnTo>
                  <a:pt x="379968" y="434251"/>
                </a:lnTo>
                <a:cubicBezTo>
                  <a:pt x="377984" y="439519"/>
                  <a:pt x="373380" y="442913"/>
                  <a:pt x="368300" y="442913"/>
                </a:cubicBezTo>
                <a:cubicBezTo>
                  <a:pt x="363220" y="442913"/>
                  <a:pt x="358616" y="439519"/>
                  <a:pt x="356632" y="434251"/>
                </a:cubicBezTo>
                <a:lnTo>
                  <a:pt x="339566" y="389513"/>
                </a:lnTo>
                <a:lnTo>
                  <a:pt x="299799" y="370314"/>
                </a:lnTo>
                <a:cubicBezTo>
                  <a:pt x="295116" y="368082"/>
                  <a:pt x="292100" y="362903"/>
                  <a:pt x="292100" y="357188"/>
                </a:cubicBezTo>
                <a:cubicBezTo>
                  <a:pt x="292100" y="351473"/>
                  <a:pt x="295116" y="346293"/>
                  <a:pt x="299799" y="344061"/>
                </a:cubicBezTo>
                <a:lnTo>
                  <a:pt x="339566" y="324862"/>
                </a:lnTo>
                <a:lnTo>
                  <a:pt x="356632" y="280124"/>
                </a:lnTo>
                <a:cubicBezTo>
                  <a:pt x="358616" y="274856"/>
                  <a:pt x="363220" y="271463"/>
                  <a:pt x="368300" y="271463"/>
                </a:cubicBezTo>
                <a:close/>
                <a:moveTo>
                  <a:pt x="365125" y="0"/>
                </a:moveTo>
                <a:cubicBezTo>
                  <a:pt x="373856" y="0"/>
                  <a:pt x="382270" y="3929"/>
                  <a:pt x="388541" y="10894"/>
                </a:cubicBezTo>
                <a:lnTo>
                  <a:pt x="422116" y="48667"/>
                </a:lnTo>
                <a:cubicBezTo>
                  <a:pt x="428308" y="55721"/>
                  <a:pt x="431800" y="65187"/>
                  <a:pt x="431800" y="75009"/>
                </a:cubicBezTo>
                <a:cubicBezTo>
                  <a:pt x="431800" y="84832"/>
                  <a:pt x="428308" y="94298"/>
                  <a:pt x="422116" y="101352"/>
                </a:cubicBezTo>
                <a:lnTo>
                  <a:pt x="352107" y="180112"/>
                </a:lnTo>
                <a:lnTo>
                  <a:pt x="271701" y="89654"/>
                </a:lnTo>
                <a:lnTo>
                  <a:pt x="341709" y="10894"/>
                </a:lnTo>
                <a:cubicBezTo>
                  <a:pt x="347980" y="3929"/>
                  <a:pt x="356394" y="0"/>
                  <a:pt x="365125" y="0"/>
                </a:cubicBezTo>
                <a:close/>
                <a:moveTo>
                  <a:pt x="35084" y="355848"/>
                </a:moveTo>
                <a:lnTo>
                  <a:pt x="244793" y="119926"/>
                </a:lnTo>
                <a:lnTo>
                  <a:pt x="325199" y="210383"/>
                </a:lnTo>
                <a:lnTo>
                  <a:pt x="115491" y="446306"/>
                </a:lnTo>
                <a:cubicBezTo>
                  <a:pt x="109220" y="453271"/>
                  <a:pt x="100806" y="457200"/>
                  <a:pt x="92075" y="457200"/>
                </a:cubicBezTo>
                <a:cubicBezTo>
                  <a:pt x="83344" y="457200"/>
                  <a:pt x="74930" y="453271"/>
                  <a:pt x="68659" y="446306"/>
                </a:cubicBezTo>
                <a:lnTo>
                  <a:pt x="35084" y="408533"/>
                </a:lnTo>
                <a:cubicBezTo>
                  <a:pt x="28893" y="401479"/>
                  <a:pt x="25400" y="392013"/>
                  <a:pt x="25400" y="382191"/>
                </a:cubicBezTo>
                <a:cubicBezTo>
                  <a:pt x="25400" y="372368"/>
                  <a:pt x="28893" y="362903"/>
                  <a:pt x="35084" y="355848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111500"/>
            <a:ext cx="279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选择生成类型</a:t>
            </a:r>
            <a:endParaRPr lang="en-US" sz="15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SW Component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64000" y="3238500"/>
            <a:ext cx="508000" cy="0"/>
          </a:xfrm>
          <a:prstGeom prst="straightConnector1">
            <a:avLst/>
          </a:prstGeom>
          <a:noFill/>
          <a:ln w="2540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99000" y="2222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9000" y="2222500"/>
            <a:ext cx="3175000" cy="6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690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1124" y="19377"/>
                </a:moveTo>
                <a:cubicBezTo>
                  <a:pt x="401568" y="-179"/>
                  <a:pt x="369957" y="-179"/>
                  <a:pt x="350401" y="19377"/>
                </a:cubicBezTo>
                <a:lnTo>
                  <a:pt x="328613" y="41166"/>
                </a:lnTo>
                <a:lnTo>
                  <a:pt x="416034" y="128588"/>
                </a:lnTo>
                <a:lnTo>
                  <a:pt x="437823" y="106799"/>
                </a:lnTo>
                <a:cubicBezTo>
                  <a:pt x="457379" y="87243"/>
                  <a:pt x="457379" y="55632"/>
                  <a:pt x="437823" y="36076"/>
                </a:cubicBezTo>
                <a:lnTo>
                  <a:pt x="421124" y="19377"/>
                </a:lnTo>
                <a:close/>
                <a:moveTo>
                  <a:pt x="153948" y="215831"/>
                </a:moveTo>
                <a:cubicBezTo>
                  <a:pt x="148501" y="221278"/>
                  <a:pt x="144304" y="227975"/>
                  <a:pt x="141893" y="235387"/>
                </a:cubicBezTo>
                <a:lnTo>
                  <a:pt x="115461" y="314682"/>
                </a:lnTo>
                <a:cubicBezTo>
                  <a:pt x="112871" y="322362"/>
                  <a:pt x="114925" y="330845"/>
                  <a:pt x="120640" y="336649"/>
                </a:cubicBezTo>
                <a:cubicBezTo>
                  <a:pt x="126355" y="342454"/>
                  <a:pt x="134838" y="344418"/>
                  <a:pt x="142607" y="341828"/>
                </a:cubicBezTo>
                <a:lnTo>
                  <a:pt x="221903" y="315397"/>
                </a:lnTo>
                <a:cubicBezTo>
                  <a:pt x="229225" y="312986"/>
                  <a:pt x="235922" y="308789"/>
                  <a:pt x="241459" y="303341"/>
                </a:cubicBezTo>
                <a:lnTo>
                  <a:pt x="385763" y="158859"/>
                </a:lnTo>
                <a:lnTo>
                  <a:pt x="298341" y="71438"/>
                </a:lnTo>
                <a:lnTo>
                  <a:pt x="153948" y="215831"/>
                </a:lnTo>
                <a:close/>
                <a:moveTo>
                  <a:pt x="85725" y="57150"/>
                </a:moveTo>
                <a:cubicBezTo>
                  <a:pt x="38398" y="57150"/>
                  <a:pt x="0" y="95548"/>
                  <a:pt x="0" y="142875"/>
                </a:cubicBezTo>
                <a:lnTo>
                  <a:pt x="0" y="371475"/>
                </a:lnTo>
                <a:cubicBezTo>
                  <a:pt x="0" y="418802"/>
                  <a:pt x="38398" y="457200"/>
                  <a:pt x="85725" y="457200"/>
                </a:cubicBezTo>
                <a:lnTo>
                  <a:pt x="314325" y="457200"/>
                </a:lnTo>
                <a:cubicBezTo>
                  <a:pt x="361652" y="457200"/>
                  <a:pt x="400050" y="418802"/>
                  <a:pt x="400050" y="371475"/>
                </a:cubicBezTo>
                <a:lnTo>
                  <a:pt x="400050" y="285750"/>
                </a:lnTo>
                <a:cubicBezTo>
                  <a:pt x="400050" y="269944"/>
                  <a:pt x="387281" y="257175"/>
                  <a:pt x="371475" y="257175"/>
                </a:cubicBezTo>
                <a:cubicBezTo>
                  <a:pt x="355669" y="257175"/>
                  <a:pt x="342900" y="269944"/>
                  <a:pt x="342900" y="285750"/>
                </a:cubicBezTo>
                <a:lnTo>
                  <a:pt x="342900" y="371475"/>
                </a:lnTo>
                <a:cubicBezTo>
                  <a:pt x="342900" y="387281"/>
                  <a:pt x="330131" y="400050"/>
                  <a:pt x="314325" y="400050"/>
                </a:cubicBezTo>
                <a:lnTo>
                  <a:pt x="85725" y="400050"/>
                </a:lnTo>
                <a:cubicBezTo>
                  <a:pt x="69919" y="400050"/>
                  <a:pt x="57150" y="387281"/>
                  <a:pt x="57150" y="371475"/>
                </a:cubicBezTo>
                <a:lnTo>
                  <a:pt x="57150" y="142875"/>
                </a:lnTo>
                <a:cubicBezTo>
                  <a:pt x="57150" y="127069"/>
                  <a:pt x="69919" y="114300"/>
                  <a:pt x="85725" y="114300"/>
                </a:cubicBezTo>
                <a:lnTo>
                  <a:pt x="171450" y="114300"/>
                </a:lnTo>
                <a:cubicBezTo>
                  <a:pt x="187256" y="114300"/>
                  <a:pt x="200025" y="101531"/>
                  <a:pt x="200025" y="85725"/>
                </a:cubicBezTo>
                <a:cubicBezTo>
                  <a:pt x="200025" y="69919"/>
                  <a:pt x="187256" y="57150"/>
                  <a:pt x="171450" y="57150"/>
                </a:cubicBezTo>
                <a:lnTo>
                  <a:pt x="85725" y="571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89500" y="3111500"/>
            <a:ext cx="279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描述需求</a:t>
            </a:r>
            <a:endParaRPr lang="en-US" sz="15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"生成 SOC 估算 SWC，包含 S/R Port"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01000" y="3238500"/>
            <a:ext cx="508000" cy="0"/>
          </a:xfrm>
          <a:prstGeom prst="straightConnector1">
            <a:avLst/>
          </a:prstGeom>
          <a:noFill/>
          <a:ln w="2540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636000" y="2222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6000" y="2222500"/>
            <a:ext cx="3175000" cy="6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99060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8826500" y="3111500"/>
            <a:ext cx="279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结合知识库</a:t>
            </a:r>
            <a:endParaRPr lang="en-US" sz="15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基于真实 ARXML 接口和数据类型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938000" y="3238500"/>
            <a:ext cx="508000" cy="0"/>
          </a:xfrm>
          <a:prstGeom prst="straightConnector1">
            <a:avLst/>
          </a:prstGeom>
          <a:noFill/>
          <a:ln w="2540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573000" y="2222500"/>
            <a:ext cx="2921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0" y="2222500"/>
            <a:ext cx="2921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79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6385" y="1072"/>
                </a:moveTo>
                <a:cubicBezTo>
                  <a:pt x="272891" y="-3304"/>
                  <a:pt x="258842" y="5536"/>
                  <a:pt x="254953" y="20717"/>
                </a:cubicBezTo>
                <a:lnTo>
                  <a:pt x="153353" y="420767"/>
                </a:lnTo>
                <a:cubicBezTo>
                  <a:pt x="149463" y="435947"/>
                  <a:pt x="157321" y="451753"/>
                  <a:pt x="170815" y="456128"/>
                </a:cubicBezTo>
                <a:cubicBezTo>
                  <a:pt x="184309" y="460504"/>
                  <a:pt x="198358" y="451664"/>
                  <a:pt x="202248" y="436483"/>
                </a:cubicBezTo>
                <a:lnTo>
                  <a:pt x="303848" y="36433"/>
                </a:lnTo>
                <a:cubicBezTo>
                  <a:pt x="307737" y="21253"/>
                  <a:pt x="299879" y="5447"/>
                  <a:pt x="286385" y="1072"/>
                </a:cubicBezTo>
                <a:close/>
                <a:moveTo>
                  <a:pt x="337661" y="122605"/>
                </a:moveTo>
                <a:cubicBezTo>
                  <a:pt x="327739" y="133767"/>
                  <a:pt x="327739" y="151894"/>
                  <a:pt x="337661" y="163056"/>
                </a:cubicBezTo>
                <a:lnTo>
                  <a:pt x="395922" y="228600"/>
                </a:lnTo>
                <a:lnTo>
                  <a:pt x="337661" y="294144"/>
                </a:lnTo>
                <a:cubicBezTo>
                  <a:pt x="327739" y="305306"/>
                  <a:pt x="327739" y="323433"/>
                  <a:pt x="337661" y="334595"/>
                </a:cubicBezTo>
                <a:cubicBezTo>
                  <a:pt x="347583" y="345758"/>
                  <a:pt x="363696" y="345758"/>
                  <a:pt x="373618" y="334595"/>
                </a:cubicBezTo>
                <a:lnTo>
                  <a:pt x="449818" y="248870"/>
                </a:lnTo>
                <a:cubicBezTo>
                  <a:pt x="459740" y="237708"/>
                  <a:pt x="459740" y="219581"/>
                  <a:pt x="449818" y="208419"/>
                </a:cubicBezTo>
                <a:lnTo>
                  <a:pt x="373618" y="122694"/>
                </a:lnTo>
                <a:cubicBezTo>
                  <a:pt x="363696" y="111532"/>
                  <a:pt x="347583" y="111532"/>
                  <a:pt x="337661" y="122694"/>
                </a:cubicBezTo>
                <a:close/>
                <a:moveTo>
                  <a:pt x="119618" y="122605"/>
                </a:moveTo>
                <a:cubicBezTo>
                  <a:pt x="109696" y="111442"/>
                  <a:pt x="93583" y="111442"/>
                  <a:pt x="83661" y="122605"/>
                </a:cubicBezTo>
                <a:lnTo>
                  <a:pt x="7461" y="208330"/>
                </a:lnTo>
                <a:cubicBezTo>
                  <a:pt x="-2461" y="219492"/>
                  <a:pt x="-2461" y="237619"/>
                  <a:pt x="7461" y="248781"/>
                </a:cubicBezTo>
                <a:lnTo>
                  <a:pt x="83661" y="334506"/>
                </a:lnTo>
                <a:cubicBezTo>
                  <a:pt x="93583" y="345668"/>
                  <a:pt x="109696" y="345668"/>
                  <a:pt x="119618" y="334506"/>
                </a:cubicBezTo>
                <a:cubicBezTo>
                  <a:pt x="129540" y="323344"/>
                  <a:pt x="129540" y="305217"/>
                  <a:pt x="119618" y="294055"/>
                </a:cubicBezTo>
                <a:lnTo>
                  <a:pt x="61357" y="228600"/>
                </a:lnTo>
                <a:lnTo>
                  <a:pt x="119539" y="163056"/>
                </a:lnTo>
                <a:cubicBezTo>
                  <a:pt x="129461" y="151894"/>
                  <a:pt x="129461" y="133767"/>
                  <a:pt x="119539" y="12260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2700000" y="3111500"/>
            <a:ext cx="266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生成输出</a:t>
            </a:r>
            <a:endParaRPr lang="en-US" sz="15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 代码 + ARXML + RTE 说明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2000" y="5016500"/>
            <a:ext cx="1473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9500" y="5181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生成内容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9500" y="56134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 代码骨架（Runnable、Port API）　　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ARXML 描述片段　　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RTE 接口说明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优势：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生成基于真实 ARXML 知识库里的组件和接口关系，一致性和可集成性更好。可直接合并到英飞凌工程中。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7175500"/>
            <a:ext cx="14732000" cy="482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9500" y="7264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22238" y="87313"/>
                </a:moveTo>
                <a:cubicBezTo>
                  <a:pt x="122238" y="77675"/>
                  <a:pt x="130062" y="69850"/>
                  <a:pt x="139700" y="69850"/>
                </a:cubicBezTo>
                <a:cubicBezTo>
                  <a:pt x="149338" y="69850"/>
                  <a:pt x="157163" y="77675"/>
                  <a:pt x="157163" y="87313"/>
                </a:cubicBezTo>
                <a:cubicBezTo>
                  <a:pt x="157163" y="96950"/>
                  <a:pt x="149338" y="104775"/>
                  <a:pt x="139700" y="104775"/>
                </a:cubicBezTo>
                <a:cubicBezTo>
                  <a:pt x="130062" y="104775"/>
                  <a:pt x="122238" y="96950"/>
                  <a:pt x="122238" y="87313"/>
                </a:cubicBezTo>
                <a:close/>
                <a:moveTo>
                  <a:pt x="117872" y="122238"/>
                </a:moveTo>
                <a:lnTo>
                  <a:pt x="144066" y="122238"/>
                </a:lnTo>
                <a:cubicBezTo>
                  <a:pt x="151323" y="122238"/>
                  <a:pt x="157163" y="128077"/>
                  <a:pt x="157163" y="135334"/>
                </a:cubicBezTo>
                <a:lnTo>
                  <a:pt x="157163" y="183356"/>
                </a:lnTo>
                <a:lnTo>
                  <a:pt x="161528" y="183356"/>
                </a:lnTo>
                <a:cubicBezTo>
                  <a:pt x="168786" y="183356"/>
                  <a:pt x="174625" y="189195"/>
                  <a:pt x="174625" y="196453"/>
                </a:cubicBezTo>
                <a:cubicBezTo>
                  <a:pt x="174625" y="203711"/>
                  <a:pt x="168786" y="209550"/>
                  <a:pt x="161528" y="209550"/>
                </a:cubicBezTo>
                <a:lnTo>
                  <a:pt x="117872" y="209550"/>
                </a:lnTo>
                <a:cubicBezTo>
                  <a:pt x="110614" y="209550"/>
                  <a:pt x="104775" y="203711"/>
                  <a:pt x="104775" y="196453"/>
                </a:cubicBezTo>
                <a:cubicBezTo>
                  <a:pt x="104775" y="189195"/>
                  <a:pt x="110614" y="183356"/>
                  <a:pt x="117872" y="183356"/>
                </a:cubicBezTo>
                <a:lnTo>
                  <a:pt x="130969" y="183356"/>
                </a:lnTo>
                <a:lnTo>
                  <a:pt x="130969" y="148431"/>
                </a:lnTo>
                <a:lnTo>
                  <a:pt x="117872" y="148431"/>
                </a:lnTo>
                <a:cubicBezTo>
                  <a:pt x="110614" y="148431"/>
                  <a:pt x="104775" y="142592"/>
                  <a:pt x="104775" y="135334"/>
                </a:cubicBezTo>
                <a:cubicBezTo>
                  <a:pt x="104775" y="128077"/>
                  <a:pt x="110614" y="122238"/>
                  <a:pt x="117872" y="1222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498600" y="7175500"/>
            <a:ext cx="1371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注意：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代码生成依赖 LLM，演示前请确保 API Key 已配置。无网络时可只展示 Wizard 界面。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质量与编译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质量报告与编译管理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7112000" cy="6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9565" y="25400"/>
                </a:moveTo>
                <a:lnTo>
                  <a:pt x="338667" y="25400"/>
                </a:lnTo>
                <a:cubicBezTo>
                  <a:pt x="376026" y="25400"/>
                  <a:pt x="406400" y="48181"/>
                  <a:pt x="406400" y="76200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30374" y="25400"/>
                  <a:pt x="67733" y="25400"/>
                </a:cubicBezTo>
                <a:lnTo>
                  <a:pt x="76835" y="25400"/>
                </a:lnTo>
                <a:cubicBezTo>
                  <a:pt x="88477" y="10239"/>
                  <a:pt x="110384" y="0"/>
                  <a:pt x="135467" y="0"/>
                </a:cubicBezTo>
                <a:lnTo>
                  <a:pt x="270933" y="0"/>
                </a:lnTo>
                <a:cubicBezTo>
                  <a:pt x="296016" y="0"/>
                  <a:pt x="317923" y="10239"/>
                  <a:pt x="329565" y="25400"/>
                </a:cubicBezTo>
                <a:close/>
                <a:moveTo>
                  <a:pt x="262467" y="88900"/>
                </a:moveTo>
                <a:cubicBezTo>
                  <a:pt x="276543" y="88900"/>
                  <a:pt x="287867" y="80407"/>
                  <a:pt x="287867" y="69850"/>
                </a:cubicBezTo>
                <a:cubicBezTo>
                  <a:pt x="287867" y="59293"/>
                  <a:pt x="276543" y="50800"/>
                  <a:pt x="262467" y="50800"/>
                </a:cubicBezTo>
                <a:lnTo>
                  <a:pt x="143933" y="50800"/>
                </a:lnTo>
                <a:cubicBezTo>
                  <a:pt x="129858" y="50800"/>
                  <a:pt x="118533" y="59293"/>
                  <a:pt x="118533" y="69850"/>
                </a:cubicBezTo>
                <a:cubicBezTo>
                  <a:pt x="118533" y="80407"/>
                  <a:pt x="129858" y="88900"/>
                  <a:pt x="143933" y="88900"/>
                </a:cubicBezTo>
                <a:lnTo>
                  <a:pt x="262467" y="88900"/>
                </a:lnTo>
                <a:close/>
                <a:moveTo>
                  <a:pt x="292523" y="206931"/>
                </a:moveTo>
                <a:cubicBezTo>
                  <a:pt x="299932" y="198041"/>
                  <a:pt x="296333" y="186293"/>
                  <a:pt x="284480" y="180658"/>
                </a:cubicBezTo>
                <a:cubicBezTo>
                  <a:pt x="272627" y="175022"/>
                  <a:pt x="256963" y="177800"/>
                  <a:pt x="249449" y="186690"/>
                </a:cubicBezTo>
                <a:lnTo>
                  <a:pt x="184467" y="264716"/>
                </a:lnTo>
                <a:lnTo>
                  <a:pt x="155892" y="236141"/>
                </a:lnTo>
                <a:cubicBezTo>
                  <a:pt x="147426" y="227727"/>
                  <a:pt x="131551" y="225981"/>
                  <a:pt x="120332" y="232331"/>
                </a:cubicBezTo>
                <a:cubicBezTo>
                  <a:pt x="109114" y="238681"/>
                  <a:pt x="106786" y="250587"/>
                  <a:pt x="115252" y="259001"/>
                </a:cubicBezTo>
                <a:lnTo>
                  <a:pt x="166052" y="309801"/>
                </a:lnTo>
                <a:cubicBezTo>
                  <a:pt x="171027" y="314801"/>
                  <a:pt x="179070" y="317659"/>
                  <a:pt x="187431" y="317421"/>
                </a:cubicBezTo>
                <a:cubicBezTo>
                  <a:pt x="195792" y="317183"/>
                  <a:pt x="203412" y="313849"/>
                  <a:pt x="207857" y="308451"/>
                </a:cubicBezTo>
                <a:lnTo>
                  <a:pt x="292523" y="206851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241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Report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9500" y="3048000"/>
            <a:ext cx="6477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集成检查：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AUTOSAR 规范检查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MISRA C 规则检查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分析范围：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Arxml/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Code/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扫描结果：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错误数 / 警告数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文件问题列表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点击直达问题行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095500"/>
            <a:ext cx="7112000" cy="546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2095500"/>
            <a:ext cx="7112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995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6782" y="14526"/>
                </a:moveTo>
                <a:lnTo>
                  <a:pt x="172085" y="3016"/>
                </a:lnTo>
                <a:cubicBezTo>
                  <a:pt x="185801" y="-7302"/>
                  <a:pt x="201486" y="-12700"/>
                  <a:pt x="217488" y="-12700"/>
                </a:cubicBezTo>
                <a:cubicBezTo>
                  <a:pt x="240856" y="-12700"/>
                  <a:pt x="263335" y="-1111"/>
                  <a:pt x="279845" y="19606"/>
                </a:cubicBezTo>
                <a:lnTo>
                  <a:pt x="320421" y="70326"/>
                </a:lnTo>
                <a:cubicBezTo>
                  <a:pt x="329946" y="82233"/>
                  <a:pt x="335280" y="98425"/>
                  <a:pt x="335280" y="115253"/>
                </a:cubicBezTo>
                <a:lnTo>
                  <a:pt x="335280" y="139779"/>
                </a:lnTo>
                <a:lnTo>
                  <a:pt x="347790" y="155416"/>
                </a:lnTo>
                <a:lnTo>
                  <a:pt x="347790" y="155416"/>
                </a:lnTo>
                <a:cubicBezTo>
                  <a:pt x="357696" y="143034"/>
                  <a:pt x="373761" y="143034"/>
                  <a:pt x="383731" y="155416"/>
                </a:cubicBezTo>
                <a:cubicBezTo>
                  <a:pt x="393700" y="167799"/>
                  <a:pt x="393637" y="187881"/>
                  <a:pt x="383731" y="200342"/>
                </a:cubicBezTo>
                <a:lnTo>
                  <a:pt x="343091" y="251142"/>
                </a:lnTo>
                <a:cubicBezTo>
                  <a:pt x="333185" y="263525"/>
                  <a:pt x="317119" y="263525"/>
                  <a:pt x="307150" y="251142"/>
                </a:cubicBezTo>
                <a:cubicBezTo>
                  <a:pt x="297180" y="238760"/>
                  <a:pt x="297244" y="218678"/>
                  <a:pt x="307150" y="206216"/>
                </a:cubicBezTo>
                <a:lnTo>
                  <a:pt x="294640" y="190500"/>
                </a:lnTo>
                <a:lnTo>
                  <a:pt x="275019" y="190500"/>
                </a:lnTo>
                <a:cubicBezTo>
                  <a:pt x="261557" y="190500"/>
                  <a:pt x="248603" y="183833"/>
                  <a:pt x="239078" y="171926"/>
                </a:cubicBezTo>
                <a:lnTo>
                  <a:pt x="207899" y="132953"/>
                </a:lnTo>
                <a:cubicBezTo>
                  <a:pt x="198374" y="121047"/>
                  <a:pt x="193040" y="104854"/>
                  <a:pt x="193040" y="88027"/>
                </a:cubicBezTo>
                <a:lnTo>
                  <a:pt x="193040" y="77946"/>
                </a:lnTo>
                <a:cubicBezTo>
                  <a:pt x="193040" y="69056"/>
                  <a:pt x="189294" y="60722"/>
                  <a:pt x="183198" y="56198"/>
                </a:cubicBezTo>
                <a:lnTo>
                  <a:pt x="156782" y="36354"/>
                </a:lnTo>
                <a:cubicBezTo>
                  <a:pt x="150178" y="31433"/>
                  <a:pt x="150178" y="19526"/>
                  <a:pt x="156782" y="14605"/>
                </a:cubicBezTo>
                <a:close/>
                <a:moveTo>
                  <a:pt x="32195" y="319643"/>
                </a:moveTo>
                <a:lnTo>
                  <a:pt x="173228" y="143351"/>
                </a:lnTo>
                <a:lnTo>
                  <a:pt x="230696" y="215186"/>
                </a:lnTo>
                <a:lnTo>
                  <a:pt x="89662" y="391478"/>
                </a:lnTo>
                <a:cubicBezTo>
                  <a:pt x="73787" y="411321"/>
                  <a:pt x="48070" y="411321"/>
                  <a:pt x="32195" y="391478"/>
                </a:cubicBezTo>
                <a:cubicBezTo>
                  <a:pt x="16320" y="371634"/>
                  <a:pt x="16320" y="339487"/>
                  <a:pt x="32195" y="319643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271000" y="241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 Manager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99500" y="3048000"/>
            <a:ext cx="6477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 Profile 配置：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支持不同项目间快速切换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工具链支持：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Tasking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HighTec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Green Hills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编译流程：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点击 Build 调用底层命令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日志实时显示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错误点击跳转源码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594600"/>
            <a:ext cx="14732000" cy="4318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" y="7658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22238" y="87313"/>
                </a:moveTo>
                <a:cubicBezTo>
                  <a:pt x="122238" y="77675"/>
                  <a:pt x="130062" y="69850"/>
                  <a:pt x="139700" y="69850"/>
                </a:cubicBezTo>
                <a:cubicBezTo>
                  <a:pt x="149338" y="69850"/>
                  <a:pt x="157163" y="77675"/>
                  <a:pt x="157163" y="87313"/>
                </a:cubicBezTo>
                <a:cubicBezTo>
                  <a:pt x="157163" y="96950"/>
                  <a:pt x="149338" y="104775"/>
                  <a:pt x="139700" y="104775"/>
                </a:cubicBezTo>
                <a:cubicBezTo>
                  <a:pt x="130062" y="104775"/>
                  <a:pt x="122238" y="96950"/>
                  <a:pt x="122238" y="87313"/>
                </a:cubicBezTo>
                <a:close/>
                <a:moveTo>
                  <a:pt x="117872" y="122238"/>
                </a:moveTo>
                <a:lnTo>
                  <a:pt x="144066" y="122238"/>
                </a:lnTo>
                <a:cubicBezTo>
                  <a:pt x="151323" y="122238"/>
                  <a:pt x="157163" y="128077"/>
                  <a:pt x="157163" y="135334"/>
                </a:cubicBezTo>
                <a:lnTo>
                  <a:pt x="157163" y="183356"/>
                </a:lnTo>
                <a:lnTo>
                  <a:pt x="161528" y="183356"/>
                </a:lnTo>
                <a:cubicBezTo>
                  <a:pt x="168786" y="183356"/>
                  <a:pt x="174625" y="189195"/>
                  <a:pt x="174625" y="196453"/>
                </a:cubicBezTo>
                <a:cubicBezTo>
                  <a:pt x="174625" y="203711"/>
                  <a:pt x="168786" y="209550"/>
                  <a:pt x="161528" y="209550"/>
                </a:cubicBezTo>
                <a:lnTo>
                  <a:pt x="117872" y="209550"/>
                </a:lnTo>
                <a:cubicBezTo>
                  <a:pt x="110614" y="209550"/>
                  <a:pt x="104775" y="203711"/>
                  <a:pt x="104775" y="196453"/>
                </a:cubicBezTo>
                <a:cubicBezTo>
                  <a:pt x="104775" y="189195"/>
                  <a:pt x="110614" y="183356"/>
                  <a:pt x="117872" y="183356"/>
                </a:cubicBezTo>
                <a:lnTo>
                  <a:pt x="130969" y="183356"/>
                </a:lnTo>
                <a:lnTo>
                  <a:pt x="130969" y="148431"/>
                </a:lnTo>
                <a:lnTo>
                  <a:pt x="117872" y="148431"/>
                </a:lnTo>
                <a:cubicBezTo>
                  <a:pt x="110614" y="148431"/>
                  <a:pt x="104775" y="142592"/>
                  <a:pt x="104775" y="135334"/>
                </a:cubicBezTo>
                <a:cubicBezTo>
                  <a:pt x="104775" y="128077"/>
                  <a:pt x="110614" y="122238"/>
                  <a:pt x="117872" y="122238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7594600"/>
            <a:ext cx="1371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提示：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若现场未安装英飞凌工具链，Compile Manager 可只展示配置界面，不实际点 Build。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nphlskrmgrs2/mnt/agents/output/bms-autosar-demo/images/5_VS_Code_Dark_Theme_A_freeCodeCamp.png">    </p:cNvPr>
          <p:cNvPicPr>
            <a:picLocks noChangeAspect="1"/>
          </p:cNvPicPr>
          <p:nvPr/>
        </p:nvPicPr>
        <p:blipFill>
          <a:blip r:embed="rId1"/>
          <a:srcRect l="0" r="0" t="9911" b="99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1000"/>
                </a:srgbClr>
              </a:gs>
              <a:gs pos="60000">
                <a:srgbClr val="0F172A">
                  <a:alpha val="75000"/>
                </a:srgbClr>
              </a:gs>
              <a:gs pos="100000">
                <a:srgbClr val="0F172A">
                  <a:alpha val="56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1016000" cy="50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5080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架构设计 / 激活机制 / RPC 扩展 / 图谱构建 / 前端渲染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插件技术架构总览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159000"/>
            <a:ext cx="4572000" cy="6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413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前端 Webview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895600"/>
            <a:ext cx="406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React + TypeScript + Vite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Cytoscape.js 图谱渲染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VS Code Webview UI Toolkit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ProtoBus gRPC 客户端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BmsAutosarKnowledgeGraphRenderer.tsx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BmsAutosarDashboard.tsx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48000" y="5461000"/>
            <a:ext cx="0" cy="190500"/>
          </a:xfrm>
          <a:prstGeom prst="straightConnector1">
            <a:avLst/>
          </a:prstGeom>
          <a:noFill/>
          <a:ln w="2540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62000" y="5651500"/>
            <a:ext cx="4572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5524500"/>
            <a:ext cx="4572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22781" y="155575"/>
                  <a:pt x="50800" y="155575"/>
                </a:cubicBezTo>
                <a:lnTo>
                  <a:pt x="304800" y="155575"/>
                </a:lnTo>
                <a:cubicBezTo>
                  <a:pt x="332819" y="155575"/>
                  <a:pt x="355600" y="135642"/>
                  <a:pt x="355600" y="1111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22250" y="72231"/>
                </a:moveTo>
                <a:cubicBezTo>
                  <a:pt x="232764" y="72231"/>
                  <a:pt x="241300" y="79700"/>
                  <a:pt x="241300" y="88900"/>
                </a:cubicBezTo>
                <a:cubicBezTo>
                  <a:pt x="241300" y="98100"/>
                  <a:pt x="232764" y="105569"/>
                  <a:pt x="222250" y="105569"/>
                </a:cubicBezTo>
                <a:cubicBezTo>
                  <a:pt x="211736" y="105569"/>
                  <a:pt x="203200" y="98100"/>
                  <a:pt x="203200" y="88900"/>
                </a:cubicBezTo>
                <a:cubicBezTo>
                  <a:pt x="203200" y="79700"/>
                  <a:pt x="211736" y="72231"/>
                  <a:pt x="222250" y="72231"/>
                </a:cubicBezTo>
                <a:close/>
                <a:moveTo>
                  <a:pt x="266700" y="88900"/>
                </a:moveTo>
                <a:cubicBezTo>
                  <a:pt x="266700" y="79700"/>
                  <a:pt x="275236" y="72231"/>
                  <a:pt x="285750" y="72231"/>
                </a:cubicBezTo>
                <a:cubicBezTo>
                  <a:pt x="296264" y="72231"/>
                  <a:pt x="304800" y="79700"/>
                  <a:pt x="304800" y="88900"/>
                </a:cubicBezTo>
                <a:cubicBezTo>
                  <a:pt x="304800" y="98100"/>
                  <a:pt x="296264" y="105569"/>
                  <a:pt x="285750" y="105569"/>
                </a:cubicBezTo>
                <a:cubicBezTo>
                  <a:pt x="275236" y="105569"/>
                  <a:pt x="266700" y="98100"/>
                  <a:pt x="266700" y="88900"/>
                </a:cubicBezTo>
                <a:close/>
                <a:moveTo>
                  <a:pt x="50800" y="200025"/>
                </a:moveTo>
                <a:cubicBezTo>
                  <a:pt x="22781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244475"/>
                </a:lnTo>
                <a:cubicBezTo>
                  <a:pt x="355600" y="219958"/>
                  <a:pt x="332819" y="200025"/>
                  <a:pt x="304800" y="200025"/>
                </a:cubicBezTo>
                <a:lnTo>
                  <a:pt x="50800" y="200025"/>
                </a:lnTo>
                <a:close/>
                <a:moveTo>
                  <a:pt x="222250" y="250031"/>
                </a:moveTo>
                <a:cubicBezTo>
                  <a:pt x="232764" y="250031"/>
                  <a:pt x="241300" y="257500"/>
                  <a:pt x="241300" y="266700"/>
                </a:cubicBezTo>
                <a:cubicBezTo>
                  <a:pt x="241300" y="275900"/>
                  <a:pt x="232764" y="283369"/>
                  <a:pt x="222250" y="283369"/>
                </a:cubicBezTo>
                <a:cubicBezTo>
                  <a:pt x="211736" y="283369"/>
                  <a:pt x="203200" y="275900"/>
                  <a:pt x="203200" y="266700"/>
                </a:cubicBezTo>
                <a:cubicBezTo>
                  <a:pt x="203200" y="257500"/>
                  <a:pt x="211736" y="250031"/>
                  <a:pt x="222250" y="250031"/>
                </a:cubicBezTo>
                <a:close/>
                <a:moveTo>
                  <a:pt x="266700" y="266700"/>
                </a:moveTo>
                <a:cubicBezTo>
                  <a:pt x="266700" y="257500"/>
                  <a:pt x="275236" y="250031"/>
                  <a:pt x="285750" y="250031"/>
                </a:cubicBezTo>
                <a:cubicBezTo>
                  <a:pt x="296264" y="250031"/>
                  <a:pt x="304800" y="257500"/>
                  <a:pt x="304800" y="266700"/>
                </a:cubicBezTo>
                <a:cubicBezTo>
                  <a:pt x="304800" y="275900"/>
                  <a:pt x="296264" y="283369"/>
                  <a:pt x="285750" y="283369"/>
                </a:cubicBezTo>
                <a:cubicBezTo>
                  <a:pt x="275236" y="283369"/>
                  <a:pt x="266700" y="275900"/>
                  <a:pt x="266700" y="26670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5778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后端 Extension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6388100"/>
            <a:ext cx="406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ProtoBus RPC Handler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ARXML 解析器 + 缓存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DBC / Excel / Simulink 解析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hnswlib-node 向量索引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42000" y="2159000"/>
            <a:ext cx="9652000" cy="6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42000" y="2159000"/>
            <a:ext cx="9652000" cy="6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3106" y="61119"/>
                </a:moveTo>
                <a:lnTo>
                  <a:pt x="202494" y="61119"/>
                </a:lnTo>
                <a:lnTo>
                  <a:pt x="202494" y="94456"/>
                </a:lnTo>
                <a:lnTo>
                  <a:pt x="153106" y="94456"/>
                </a:lnTo>
                <a:lnTo>
                  <a:pt x="153106" y="61119"/>
                </a:lnTo>
                <a:close/>
                <a:moveTo>
                  <a:pt x="148167" y="22225"/>
                </a:moveTo>
                <a:cubicBezTo>
                  <a:pt x="131807" y="22225"/>
                  <a:pt x="118533" y="37157"/>
                  <a:pt x="118533" y="55563"/>
                </a:cubicBezTo>
                <a:lnTo>
                  <a:pt x="118533" y="100013"/>
                </a:lnTo>
                <a:cubicBezTo>
                  <a:pt x="118533" y="118418"/>
                  <a:pt x="131807" y="133350"/>
                  <a:pt x="148167" y="133350"/>
                </a:cubicBezTo>
                <a:lnTo>
                  <a:pt x="158044" y="133350"/>
                </a:lnTo>
                <a:lnTo>
                  <a:pt x="158044" y="155575"/>
                </a:lnTo>
                <a:lnTo>
                  <a:pt x="19756" y="155575"/>
                </a:lnTo>
                <a:cubicBezTo>
                  <a:pt x="8828" y="155575"/>
                  <a:pt x="0" y="165507"/>
                  <a:pt x="0" y="177800"/>
                </a:cubicBezTo>
                <a:cubicBezTo>
                  <a:pt x="0" y="190093"/>
                  <a:pt x="8828" y="200025"/>
                  <a:pt x="19756" y="200025"/>
                </a:cubicBezTo>
                <a:lnTo>
                  <a:pt x="79022" y="200025"/>
                </a:lnTo>
                <a:lnTo>
                  <a:pt x="79022" y="222250"/>
                </a:lnTo>
                <a:lnTo>
                  <a:pt x="69144" y="222250"/>
                </a:lnTo>
                <a:cubicBezTo>
                  <a:pt x="52784" y="222250"/>
                  <a:pt x="39511" y="237182"/>
                  <a:pt x="39511" y="255587"/>
                </a:cubicBezTo>
                <a:lnTo>
                  <a:pt x="39511" y="300038"/>
                </a:lnTo>
                <a:cubicBezTo>
                  <a:pt x="39511" y="318443"/>
                  <a:pt x="52784" y="333375"/>
                  <a:pt x="69144" y="333375"/>
                </a:cubicBezTo>
                <a:lnTo>
                  <a:pt x="128411" y="333375"/>
                </a:lnTo>
                <a:cubicBezTo>
                  <a:pt x="144771" y="333375"/>
                  <a:pt x="158044" y="318443"/>
                  <a:pt x="158044" y="300038"/>
                </a:cubicBezTo>
                <a:lnTo>
                  <a:pt x="158044" y="255587"/>
                </a:lnTo>
                <a:cubicBezTo>
                  <a:pt x="158044" y="237182"/>
                  <a:pt x="144771" y="222250"/>
                  <a:pt x="128411" y="222250"/>
                </a:cubicBezTo>
                <a:lnTo>
                  <a:pt x="118533" y="222250"/>
                </a:lnTo>
                <a:lnTo>
                  <a:pt x="118533" y="200025"/>
                </a:lnTo>
                <a:lnTo>
                  <a:pt x="237067" y="200025"/>
                </a:lnTo>
                <a:lnTo>
                  <a:pt x="237067" y="222250"/>
                </a:lnTo>
                <a:lnTo>
                  <a:pt x="227189" y="222250"/>
                </a:lnTo>
                <a:cubicBezTo>
                  <a:pt x="210829" y="222250"/>
                  <a:pt x="197556" y="237182"/>
                  <a:pt x="197556" y="255587"/>
                </a:cubicBezTo>
                <a:lnTo>
                  <a:pt x="197556" y="300038"/>
                </a:lnTo>
                <a:cubicBezTo>
                  <a:pt x="197556" y="318443"/>
                  <a:pt x="210829" y="333375"/>
                  <a:pt x="227189" y="333375"/>
                </a:cubicBezTo>
                <a:lnTo>
                  <a:pt x="286456" y="333375"/>
                </a:lnTo>
                <a:cubicBezTo>
                  <a:pt x="302816" y="333375"/>
                  <a:pt x="316089" y="318443"/>
                  <a:pt x="316089" y="300038"/>
                </a:cubicBezTo>
                <a:lnTo>
                  <a:pt x="316089" y="255587"/>
                </a:lnTo>
                <a:cubicBezTo>
                  <a:pt x="316089" y="237182"/>
                  <a:pt x="302816" y="222250"/>
                  <a:pt x="286456" y="222250"/>
                </a:cubicBezTo>
                <a:lnTo>
                  <a:pt x="276578" y="222250"/>
                </a:lnTo>
                <a:lnTo>
                  <a:pt x="276578" y="200025"/>
                </a:lnTo>
                <a:lnTo>
                  <a:pt x="335844" y="200025"/>
                </a:lnTo>
                <a:cubicBezTo>
                  <a:pt x="346772" y="200025"/>
                  <a:pt x="355600" y="190093"/>
                  <a:pt x="355600" y="177800"/>
                </a:cubicBezTo>
                <a:cubicBezTo>
                  <a:pt x="355600" y="165507"/>
                  <a:pt x="346772" y="155575"/>
                  <a:pt x="335844" y="155575"/>
                </a:cubicBezTo>
                <a:lnTo>
                  <a:pt x="197556" y="155575"/>
                </a:lnTo>
                <a:lnTo>
                  <a:pt x="197556" y="133350"/>
                </a:lnTo>
                <a:lnTo>
                  <a:pt x="207433" y="133350"/>
                </a:lnTo>
                <a:cubicBezTo>
                  <a:pt x="223793" y="133350"/>
                  <a:pt x="237067" y="118418"/>
                  <a:pt x="237067" y="100013"/>
                </a:cubicBezTo>
                <a:lnTo>
                  <a:pt x="237067" y="55563"/>
                </a:lnTo>
                <a:cubicBezTo>
                  <a:pt x="237067" y="37157"/>
                  <a:pt x="223793" y="22225"/>
                  <a:pt x="207433" y="22225"/>
                </a:cubicBezTo>
                <a:lnTo>
                  <a:pt x="148167" y="22225"/>
                </a:lnTo>
                <a:close/>
                <a:moveTo>
                  <a:pt x="276578" y="261144"/>
                </a:moveTo>
                <a:lnTo>
                  <a:pt x="281517" y="261144"/>
                </a:lnTo>
                <a:lnTo>
                  <a:pt x="281517" y="294481"/>
                </a:lnTo>
                <a:lnTo>
                  <a:pt x="232128" y="294481"/>
                </a:lnTo>
                <a:lnTo>
                  <a:pt x="232128" y="261144"/>
                </a:lnTo>
                <a:lnTo>
                  <a:pt x="276578" y="261144"/>
                </a:lnTo>
                <a:close/>
                <a:moveTo>
                  <a:pt x="118533" y="261144"/>
                </a:moveTo>
                <a:lnTo>
                  <a:pt x="123472" y="261144"/>
                </a:lnTo>
                <a:lnTo>
                  <a:pt x="123472" y="294481"/>
                </a:lnTo>
                <a:lnTo>
                  <a:pt x="74083" y="294481"/>
                </a:lnTo>
                <a:lnTo>
                  <a:pt x="74083" y="261144"/>
                </a:lnTo>
                <a:lnTo>
                  <a:pt x="118533" y="261144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78600" y="241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ProtoBus 通信层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96000" y="2921000"/>
            <a:ext cx="914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cline/file.proto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BmsAutosarKnowledgeGraphNode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+source_file, +line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BmsAutosarExternalNode / ExternalEdge / ExternalGraph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RPC: getBmsAutosarKnowledgeGraph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RPC: openArxmlSource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RPC: parseBmsAutosarDbc / Excel / SimulinkData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host/window.proto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ShowTextDocumentOptions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+selection: Selection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Handler 注册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：src/generated/hosts/vscode/protobus-services.ts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自动注册到 ProtoBus 服务表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其他 proto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bms_autosar.proto — 编译 Profile / ui.proto — Dashboard 订阅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生成命令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npm run protos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重新生成客户端/服务端代码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激活稳定性改进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1651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9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8533" y="66675"/>
                </a:moveTo>
                <a:cubicBezTo>
                  <a:pt x="118533" y="29865"/>
                  <a:pt x="145080" y="0"/>
                  <a:pt x="177800" y="0"/>
                </a:cubicBezTo>
                <a:cubicBezTo>
                  <a:pt x="210520" y="0"/>
                  <a:pt x="237067" y="29865"/>
                  <a:pt x="237067" y="66675"/>
                </a:cubicBezTo>
                <a:lnTo>
                  <a:pt x="237067" y="69175"/>
                </a:lnTo>
                <a:cubicBezTo>
                  <a:pt x="237067" y="80079"/>
                  <a:pt x="229226" y="88900"/>
                  <a:pt x="219534" y="88900"/>
                </a:cubicBezTo>
                <a:lnTo>
                  <a:pt x="136128" y="88900"/>
                </a:lnTo>
                <a:cubicBezTo>
                  <a:pt x="126436" y="88900"/>
                  <a:pt x="118595" y="80079"/>
                  <a:pt x="118595" y="69175"/>
                </a:cubicBezTo>
                <a:lnTo>
                  <a:pt x="118595" y="66675"/>
                </a:lnTo>
                <a:close/>
                <a:moveTo>
                  <a:pt x="331893" y="75565"/>
                </a:moveTo>
                <a:cubicBezTo>
                  <a:pt x="338437" y="85358"/>
                  <a:pt x="336647" y="99318"/>
                  <a:pt x="327942" y="106680"/>
                </a:cubicBezTo>
                <a:lnTo>
                  <a:pt x="267564" y="157589"/>
                </a:lnTo>
                <a:cubicBezTo>
                  <a:pt x="270836" y="163770"/>
                  <a:pt x="273306" y="170577"/>
                  <a:pt x="274849" y="177800"/>
                </a:cubicBezTo>
                <a:lnTo>
                  <a:pt x="335844" y="177800"/>
                </a:lnTo>
                <a:cubicBezTo>
                  <a:pt x="346772" y="177800"/>
                  <a:pt x="355600" y="187732"/>
                  <a:pt x="355600" y="200025"/>
                </a:cubicBezTo>
                <a:cubicBezTo>
                  <a:pt x="355600" y="212318"/>
                  <a:pt x="346772" y="222250"/>
                  <a:pt x="335844" y="222250"/>
                </a:cubicBezTo>
                <a:lnTo>
                  <a:pt x="276578" y="222250"/>
                </a:lnTo>
                <a:lnTo>
                  <a:pt x="276578" y="244475"/>
                </a:lnTo>
                <a:cubicBezTo>
                  <a:pt x="276578" y="246281"/>
                  <a:pt x="276516" y="248156"/>
                  <a:pt x="276454" y="249962"/>
                </a:cubicBezTo>
                <a:lnTo>
                  <a:pt x="327942" y="293370"/>
                </a:lnTo>
                <a:cubicBezTo>
                  <a:pt x="336647" y="300732"/>
                  <a:pt x="338437" y="314692"/>
                  <a:pt x="331893" y="324485"/>
                </a:cubicBezTo>
                <a:cubicBezTo>
                  <a:pt x="325349" y="334278"/>
                  <a:pt x="312940" y="336292"/>
                  <a:pt x="304236" y="328930"/>
                </a:cubicBezTo>
                <a:lnTo>
                  <a:pt x="265280" y="296079"/>
                </a:lnTo>
                <a:cubicBezTo>
                  <a:pt x="250957" y="326777"/>
                  <a:pt x="224226" y="349002"/>
                  <a:pt x="192617" y="354350"/>
                </a:cubicBezTo>
                <a:lnTo>
                  <a:pt x="192617" y="194469"/>
                </a:lnTo>
                <a:cubicBezTo>
                  <a:pt x="192617" y="185231"/>
                  <a:pt x="186011" y="177800"/>
                  <a:pt x="177800" y="177800"/>
                </a:cubicBezTo>
                <a:cubicBezTo>
                  <a:pt x="169589" y="177800"/>
                  <a:pt x="162983" y="185231"/>
                  <a:pt x="162983" y="194469"/>
                </a:cubicBezTo>
                <a:lnTo>
                  <a:pt x="162983" y="354350"/>
                </a:lnTo>
                <a:cubicBezTo>
                  <a:pt x="131374" y="349002"/>
                  <a:pt x="104643" y="326777"/>
                  <a:pt x="90320" y="296079"/>
                </a:cubicBezTo>
                <a:lnTo>
                  <a:pt x="51364" y="328930"/>
                </a:lnTo>
                <a:cubicBezTo>
                  <a:pt x="42660" y="336292"/>
                  <a:pt x="30251" y="334278"/>
                  <a:pt x="23707" y="324485"/>
                </a:cubicBezTo>
                <a:cubicBezTo>
                  <a:pt x="17163" y="314692"/>
                  <a:pt x="18953" y="300732"/>
                  <a:pt x="27658" y="293370"/>
                </a:cubicBezTo>
                <a:lnTo>
                  <a:pt x="79146" y="249962"/>
                </a:lnTo>
                <a:cubicBezTo>
                  <a:pt x="79084" y="248156"/>
                  <a:pt x="79022" y="246350"/>
                  <a:pt x="79022" y="244475"/>
                </a:cubicBezTo>
                <a:lnTo>
                  <a:pt x="79022" y="222250"/>
                </a:lnTo>
                <a:lnTo>
                  <a:pt x="19756" y="222250"/>
                </a:lnTo>
                <a:cubicBezTo>
                  <a:pt x="8828" y="222250"/>
                  <a:pt x="0" y="212318"/>
                  <a:pt x="0" y="200025"/>
                </a:cubicBezTo>
                <a:cubicBezTo>
                  <a:pt x="0" y="187732"/>
                  <a:pt x="8828" y="177800"/>
                  <a:pt x="19756" y="177800"/>
                </a:cubicBezTo>
                <a:lnTo>
                  <a:pt x="80751" y="177800"/>
                </a:lnTo>
                <a:cubicBezTo>
                  <a:pt x="82294" y="170577"/>
                  <a:pt x="84764" y="163770"/>
                  <a:pt x="88036" y="157589"/>
                </a:cubicBezTo>
                <a:lnTo>
                  <a:pt x="27658" y="106680"/>
                </a:lnTo>
                <a:cubicBezTo>
                  <a:pt x="18953" y="99318"/>
                  <a:pt x="17163" y="85358"/>
                  <a:pt x="23707" y="75565"/>
                </a:cubicBezTo>
                <a:cubicBezTo>
                  <a:pt x="30251" y="65772"/>
                  <a:pt x="42660" y="63758"/>
                  <a:pt x="51364" y="71120"/>
                </a:cubicBezTo>
                <a:lnTo>
                  <a:pt x="118533" y="127794"/>
                </a:lnTo>
                <a:cubicBezTo>
                  <a:pt x="126127" y="124252"/>
                  <a:pt x="134461" y="122238"/>
                  <a:pt x="143228" y="122238"/>
                </a:cubicBezTo>
                <a:lnTo>
                  <a:pt x="212372" y="122238"/>
                </a:lnTo>
                <a:cubicBezTo>
                  <a:pt x="221139" y="122238"/>
                  <a:pt x="229473" y="124182"/>
                  <a:pt x="237067" y="127794"/>
                </a:cubicBezTo>
                <a:lnTo>
                  <a:pt x="304236" y="71120"/>
                </a:lnTo>
                <a:cubicBezTo>
                  <a:pt x="312940" y="63758"/>
                  <a:pt x="325349" y="65772"/>
                  <a:pt x="331893" y="7556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311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问题：激活崩溃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9500" y="28194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原插件激活时直接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 "hnswlib-node"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，该原生模块加载会导致扩展激活期崩溃，用户无法进入任何功能。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82000" y="2095500"/>
            <a:ext cx="7112000" cy="16510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99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9207500" y="2311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方案：懒加载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99500" y="28194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改为运行时动态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import()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，只有真正使用向量索引时才加载原生依赖，避免激活期崩溃。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4064000"/>
            <a:ext cx="14732000" cy="2222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4216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BmsAutosarVectorIndex.ts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9500" y="4572000"/>
            <a:ext cx="14097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A7F3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改为运行时动态 import，避免激活期崩溃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084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function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loadHnswLib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(): Promise&lt;{ HierarchicalNSW: typeof HnswClass }&gt; {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084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(!hnswLibPromise) {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hnswLibPromise =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084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"hnswlib-node"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C084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Promise&lt;{ HierarchicalNSW: typeof HnswClass }&gt;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activationEvents 配置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67945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在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package.json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中补充了 BMS AUTOSAR 相关命令的激活事件，确保用户从命令面板或 Dashboard 进入时插件能正确激活：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"onCommand:cline.bmsAutosarDashboard"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"onCommand:cline.bmsAutosarKnowledgeGraph"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"onCommand:cline.bmsAutosarQualityReport"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"onCommand:cline.bmsAutosarGenerate"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"onCommand:cline.bmsAutosar.openCompile"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"onCommand:cline.bmsAutosar.openGenerator"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后端 RPC 与 Proto 扩展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7112000" cy="6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11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cline/file.proto 新增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43200"/>
            <a:ext cx="660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消息扩展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BmsAutosarKnowledgeGraphNode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+source_file, +line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BmsAutosarExternalNode / ExternalEdge / ExternalGraph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新增 RPC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openArxmlSource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打开 ARXML 并跳转行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parseBmsAutosarDbc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解析 DBC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parseBmsAutosarExcel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解析 Excel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parseBmsAutosarSimulinkData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解析 Simulink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82000" y="2095500"/>
            <a:ext cx="71120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2000" y="2095500"/>
            <a:ext cx="7112000" cy="6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8636000" y="2311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host/window.proto 扩展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7432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ShowTextDocumentOptions 新增字段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+selection: Selection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Selection 消息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start_line / start_character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end_line / end_character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端转换为 VS Code Selection 对象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实现行号精确定位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590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后端 Handler 列表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413500"/>
          <a:ext cx="14732000" cy="1905000"/>
        </p:xfrm>
        <a:graphic>
          <a:graphicData uri="http://schemas.openxmlformats.org/drawingml/2006/table">
            <a:tbl>
              <a:tblPr/>
              <a:tblGrid>
                <a:gridCol w="3241040"/>
                <a:gridCol w="6334760"/>
                <a:gridCol w="51562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Handler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getBmsAutosarKnowledgeGraph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controller/file/getBmsAutosarKnowledgeGraph.ts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收集 ARXML、解析、合并、返回图谱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openArxmlSource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controller/file/openArxmlSource.ts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调用 HostProvider 打开文件并定位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parseBmsAutosarDbc / Excel / Simulink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controller/file/parseBmsAutosar*.ts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复用解析器输出外部节点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755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自动注册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755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generated/hosts/vscode/protobus-services.ts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755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ProtoBus 服务表自动注册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知识库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7112000" cy="6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知识条目与导入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660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BmsAutosarKnowledgeEntry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id: string; topic: string; content: string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source?: BmsAutosarKnowledgeSource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embedding?: number[]; embeddingModel?: string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locations?: BmsKnowledgeLocation[]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支持来源：ARXML / DBC / Excel / PDF / MD / 文本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导入流程：提取文本 → 结构 chunking → sourceHash 合并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增量更新：保留未变更 / 删除已移除 / 返回统计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82000" y="2095500"/>
            <a:ext cx="711200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2095500"/>
            <a:ext cx="7112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118600" y="234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 与向量索引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2819400"/>
            <a:ext cx="660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BmsAutosarEmbeddingService.ts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 createEmbedding() 接口，支持多 provider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向量维度与模型一致性校验，批量 embedding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BmsAutosarVectorIndex.ts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(hnswlib-node)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Cosine 空间 HNSW 索引，索引键 = entriesHash + model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持久化到 ~/.cline/bms-autosar/cache/vector-index/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条目数 ≥ 64 时优先向量索引，O(N) → 近似 O(log N)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warmBmsAutosarVectorCache() 后台预热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6159500"/>
            <a:ext cx="14732000" cy="1270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6324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82550" y="171450"/>
                </a:moveTo>
                <a:lnTo>
                  <a:pt x="82550" y="222250"/>
                </a:lnTo>
                <a:cubicBezTo>
                  <a:pt x="82550" y="232807"/>
                  <a:pt x="91043" y="241300"/>
                  <a:pt x="101600" y="241300"/>
                </a:cubicBezTo>
                <a:cubicBezTo>
                  <a:pt x="112157" y="241300"/>
                  <a:pt x="120650" y="232807"/>
                  <a:pt x="120650" y="222250"/>
                </a:cubicBezTo>
                <a:lnTo>
                  <a:pt x="120650" y="171450"/>
                </a:lnTo>
                <a:cubicBezTo>
                  <a:pt x="120650" y="160893"/>
                  <a:pt x="112157" y="152400"/>
                  <a:pt x="101600" y="152400"/>
                </a:cubicBezTo>
                <a:cubicBezTo>
                  <a:pt x="91043" y="152400"/>
                  <a:pt x="82550" y="160893"/>
                  <a:pt x="82550" y="171450"/>
                </a:cubicBezTo>
                <a:close/>
                <a:moveTo>
                  <a:pt x="146050" y="95250"/>
                </a:moveTo>
                <a:lnTo>
                  <a:pt x="146050" y="222250"/>
                </a:lnTo>
                <a:cubicBezTo>
                  <a:pt x="146050" y="232807"/>
                  <a:pt x="154543" y="241300"/>
                  <a:pt x="165100" y="241300"/>
                </a:cubicBezTo>
                <a:cubicBezTo>
                  <a:pt x="175657" y="241300"/>
                  <a:pt x="184150" y="232807"/>
                  <a:pt x="184150" y="222250"/>
                </a:cubicBezTo>
                <a:lnTo>
                  <a:pt x="184150" y="95250"/>
                </a:lnTo>
                <a:cubicBezTo>
                  <a:pt x="184150" y="84693"/>
                  <a:pt x="175657" y="76200"/>
                  <a:pt x="165100" y="76200"/>
                </a:cubicBezTo>
                <a:cubicBezTo>
                  <a:pt x="154543" y="76200"/>
                  <a:pt x="146050" y="84693"/>
                  <a:pt x="146050" y="95250"/>
                </a:cubicBezTo>
                <a:close/>
                <a:moveTo>
                  <a:pt x="209550" y="146050"/>
                </a:moveTo>
                <a:lnTo>
                  <a:pt x="209550" y="222250"/>
                </a:lnTo>
                <a:cubicBezTo>
                  <a:pt x="209550" y="232807"/>
                  <a:pt x="218043" y="241300"/>
                  <a:pt x="228600" y="241300"/>
                </a:cubicBezTo>
                <a:cubicBezTo>
                  <a:pt x="239157" y="241300"/>
                  <a:pt x="247650" y="232807"/>
                  <a:pt x="247650" y="222250"/>
                </a:cubicBezTo>
                <a:lnTo>
                  <a:pt x="247650" y="146050"/>
                </a:lnTo>
                <a:cubicBezTo>
                  <a:pt x="247650" y="135493"/>
                  <a:pt x="239157" y="127000"/>
                  <a:pt x="228600" y="127000"/>
                </a:cubicBezTo>
                <a:cubicBezTo>
                  <a:pt x="218043" y="127000"/>
                  <a:pt x="209550" y="135493"/>
                  <a:pt x="209550" y="14605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1714500" y="62992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语义检索与查询意图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6731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检索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：embedding 相似度 + BM25 词法匹配　|　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BmsAutosarReranker.ts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：候选结果重排序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查询意图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：component_lookup (emb 0.85) / interface_search (0.75) / safety_guidance (BM25 0.65) / general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 知识图谱构建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4699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双模式解析器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XML AST 解析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buildArxmlKnowledgeGraphFromXml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 XML 结构精确遍历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Regex 兜底解析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buildArxmlKnowledgeGraphRegex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XML 解析不可用时的备用方案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2095500"/>
            <a:ext cx="4699000" cy="6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0592" y="109666"/>
                </a:moveTo>
                <a:cubicBezTo>
                  <a:pt x="315109" y="103902"/>
                  <a:pt x="333375" y="81885"/>
                  <a:pt x="333375" y="55563"/>
                </a:cubicBezTo>
                <a:cubicBezTo>
                  <a:pt x="333375" y="24864"/>
                  <a:pt x="308511" y="0"/>
                  <a:pt x="277813" y="0"/>
                </a:cubicBezTo>
                <a:cubicBezTo>
                  <a:pt x="247670" y="0"/>
                  <a:pt x="223153" y="23961"/>
                  <a:pt x="222250" y="53826"/>
                </a:cubicBezTo>
                <a:lnTo>
                  <a:pt x="94595" y="104944"/>
                </a:lnTo>
                <a:cubicBezTo>
                  <a:pt x="84524" y="95012"/>
                  <a:pt x="70773" y="88900"/>
                  <a:pt x="55563" y="88900"/>
                </a:cubicBezTo>
                <a:cubicBezTo>
                  <a:pt x="24864" y="88900"/>
                  <a:pt x="0" y="113764"/>
                  <a:pt x="0" y="144463"/>
                </a:cubicBezTo>
                <a:cubicBezTo>
                  <a:pt x="0" y="175161"/>
                  <a:pt x="24864" y="200025"/>
                  <a:pt x="55563" y="200025"/>
                </a:cubicBezTo>
                <a:cubicBezTo>
                  <a:pt x="64036" y="200025"/>
                  <a:pt x="72092" y="198150"/>
                  <a:pt x="79246" y="194747"/>
                </a:cubicBezTo>
                <a:lnTo>
                  <a:pt x="180370" y="283230"/>
                </a:lnTo>
                <a:cubicBezTo>
                  <a:pt x="178703" y="288508"/>
                  <a:pt x="177800" y="294203"/>
                  <a:pt x="177800" y="300038"/>
                </a:cubicBezTo>
                <a:cubicBezTo>
                  <a:pt x="177800" y="330736"/>
                  <a:pt x="202664" y="355600"/>
                  <a:pt x="233363" y="355600"/>
                </a:cubicBezTo>
                <a:cubicBezTo>
                  <a:pt x="264061" y="355600"/>
                  <a:pt x="288925" y="330736"/>
                  <a:pt x="288925" y="300038"/>
                </a:cubicBezTo>
                <a:cubicBezTo>
                  <a:pt x="288925" y="280799"/>
                  <a:pt x="279202" y="263852"/>
                  <a:pt x="264339" y="253921"/>
                </a:cubicBezTo>
                <a:lnTo>
                  <a:pt x="290592" y="109666"/>
                </a:lnTo>
                <a:close/>
                <a:moveTo>
                  <a:pt x="108555" y="161270"/>
                </a:moveTo>
                <a:cubicBezTo>
                  <a:pt x="110083" y="156478"/>
                  <a:pt x="110986" y="151408"/>
                  <a:pt x="111125" y="146199"/>
                </a:cubicBezTo>
                <a:lnTo>
                  <a:pt x="238780" y="95151"/>
                </a:lnTo>
                <a:cubicBezTo>
                  <a:pt x="241280" y="97582"/>
                  <a:pt x="243919" y="99804"/>
                  <a:pt x="246836" y="101749"/>
                </a:cubicBezTo>
                <a:lnTo>
                  <a:pt x="220583" y="245934"/>
                </a:lnTo>
                <a:cubicBezTo>
                  <a:pt x="216763" y="246836"/>
                  <a:pt x="213082" y="248087"/>
                  <a:pt x="209610" y="249753"/>
                </a:cubicBezTo>
                <a:lnTo>
                  <a:pt x="108555" y="16127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节点数据结构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28194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ArxmlNode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id: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type: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ArxmlNodeType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name: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packagePath: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sourceFile: string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line: number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2095500"/>
            <a:ext cx="4699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15316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关系类型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8194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contains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包包含子元素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/ requires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端口提供/使用接口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实现关系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通用引用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━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triggers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Runnable 触发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5715000"/>
            <a:ext cx="14732000" cy="139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581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714500" y="57912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双层缓存机制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6299200"/>
            <a:ext cx="1397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内存缓存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：LRUCache&lt;string, ArxmlGraphCacheEntry&gt;，容量 128，TTL 30 分钟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磁盘缓存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：~/.cline/bms-autosar/cache/arxml-graph/&lt;hash&gt;.json，通过文件 mtimeMs 校验有效性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外部数据源解析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4699000" cy="336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4699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DBC 解析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复用 BmsAutosarDbcParser.ts</a:t>
            </a:r>
            <a:endParaRPr lang="en-US" sz="13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遍历 messages → signals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输出 CAN-SIGNAL 外部节点</a:t>
            </a:r>
            <a:endParaRPr lang="en-US" sz="13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包含：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message / messageId / dlc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startBit / length / unit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336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2095500"/>
            <a:ext cx="4699000" cy="6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3200" y="111125"/>
                </a:moveTo>
                <a:lnTo>
                  <a:pt x="203200" y="177800"/>
                </a:lnTo>
                <a:lnTo>
                  <a:pt x="304800" y="177800"/>
                </a:lnTo>
                <a:lnTo>
                  <a:pt x="304800" y="111125"/>
                </a:lnTo>
                <a:lnTo>
                  <a:pt x="203200" y="111125"/>
                </a:lnTo>
                <a:close/>
                <a:moveTo>
                  <a:pt x="152400" y="111125"/>
                </a:moveTo>
                <a:lnTo>
                  <a:pt x="50800" y="111125"/>
                </a:lnTo>
                <a:lnTo>
                  <a:pt x="50800" y="177800"/>
                </a:lnTo>
                <a:lnTo>
                  <a:pt x="152400" y="177800"/>
                </a:lnTo>
                <a:lnTo>
                  <a:pt x="152400" y="111125"/>
                </a:lnTo>
                <a:close/>
                <a:moveTo>
                  <a:pt x="0" y="222250"/>
                </a:moveTo>
                <a:lnTo>
                  <a:pt x="0" y="66675"/>
                </a:lnTo>
                <a:cubicBezTo>
                  <a:pt x="0" y="42158"/>
                  <a:pt x="22781" y="22225"/>
                  <a:pt x="50800" y="22225"/>
                </a:cubicBezTo>
                <a:lnTo>
                  <a:pt x="304800" y="22225"/>
                </a:lnTo>
                <a:cubicBezTo>
                  <a:pt x="332819" y="22225"/>
                  <a:pt x="355600" y="42158"/>
                  <a:pt x="355600" y="66675"/>
                </a:cubicBezTo>
                <a:lnTo>
                  <a:pt x="355600" y="288925"/>
                </a:lnTo>
                <a:cubicBezTo>
                  <a:pt x="355600" y="313442"/>
                  <a:pt x="332819" y="333375"/>
                  <a:pt x="304800" y="333375"/>
                </a:cubicBezTo>
                <a:lnTo>
                  <a:pt x="50800" y="333375"/>
                </a:lnTo>
                <a:cubicBezTo>
                  <a:pt x="22781" y="333375"/>
                  <a:pt x="0" y="313442"/>
                  <a:pt x="0" y="288925"/>
                </a:cubicBezTo>
                <a:lnTo>
                  <a:pt x="0" y="222250"/>
                </a:lnTo>
                <a:close/>
                <a:moveTo>
                  <a:pt x="304800" y="222250"/>
                </a:moveTo>
                <a:lnTo>
                  <a:pt x="203200" y="222250"/>
                </a:lnTo>
                <a:lnTo>
                  <a:pt x="203200" y="288925"/>
                </a:lnTo>
                <a:lnTo>
                  <a:pt x="304800" y="288925"/>
                </a:lnTo>
                <a:lnTo>
                  <a:pt x="304800" y="222250"/>
                </a:lnTo>
                <a:close/>
                <a:moveTo>
                  <a:pt x="152400" y="288925"/>
                </a:moveTo>
                <a:lnTo>
                  <a:pt x="152400" y="222250"/>
                </a:lnTo>
                <a:lnTo>
                  <a:pt x="50800" y="222250"/>
                </a:lnTo>
                <a:lnTo>
                  <a:pt x="50800" y="288925"/>
                </a:lnTo>
                <a:lnTo>
                  <a:pt x="152400" y="28892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 解析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28194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使用 ExcelJS 直接读取 .xlsx</a:t>
            </a:r>
            <a:endParaRPr lang="en-US" sz="13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根据文件名区分类型：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BMS_Interface.xlsx → EXCEL-INTERFACE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BMS_Parameter.xlsx → EXCEL-PARAMETER</a:t>
            </a:r>
            <a:endParaRPr lang="en-US" sz="13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第一行表头 / 第一列名称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每行生成一个外部节点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336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2095500"/>
            <a:ext cx="4699000" cy="6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115316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Simulink 解析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8194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正则解析 .m 文件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Simulink.NumericType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^(\w+)\s*=\s*Simulink\.NumericType\s*;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Simulink.defineIntEnumType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Simulink\.defineIntEnumType\(\s*'([^']+)'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Simulink.AliasType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^(\w+)\s*=\s*Simulink\.AliasType\s*;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000" y="5778500"/>
            <a:ext cx="14732000" cy="1270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603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5981" y="76200"/>
                </a:moveTo>
                <a:cubicBezTo>
                  <a:pt x="284268" y="76200"/>
                  <a:pt x="272909" y="79772"/>
                  <a:pt x="262961" y="86281"/>
                </a:cubicBezTo>
                <a:cubicBezTo>
                  <a:pt x="251813" y="73581"/>
                  <a:pt x="238831" y="62944"/>
                  <a:pt x="224508" y="54928"/>
                </a:cubicBezTo>
                <a:cubicBezTo>
                  <a:pt x="244404" y="35878"/>
                  <a:pt x="269734" y="25400"/>
                  <a:pt x="295981" y="25400"/>
                </a:cubicBezTo>
                <a:cubicBezTo>
                  <a:pt x="356941" y="25400"/>
                  <a:pt x="406400" y="80963"/>
                  <a:pt x="406400" y="149622"/>
                </a:cubicBezTo>
                <a:cubicBezTo>
                  <a:pt x="406400" y="182563"/>
                  <a:pt x="394758" y="214154"/>
                  <a:pt x="374086" y="237411"/>
                </a:cubicBezTo>
                <a:lnTo>
                  <a:pt x="323921" y="293846"/>
                </a:lnTo>
                <a:cubicBezTo>
                  <a:pt x="303248" y="317103"/>
                  <a:pt x="275167" y="330200"/>
                  <a:pt x="245886" y="330200"/>
                </a:cubicBezTo>
                <a:cubicBezTo>
                  <a:pt x="184926" y="330200"/>
                  <a:pt x="135467" y="274638"/>
                  <a:pt x="135467" y="205978"/>
                </a:cubicBezTo>
                <a:cubicBezTo>
                  <a:pt x="135467" y="204788"/>
                  <a:pt x="135467" y="203597"/>
                  <a:pt x="135537" y="202406"/>
                </a:cubicBezTo>
                <a:cubicBezTo>
                  <a:pt x="135890" y="188357"/>
                  <a:pt x="146262" y="177324"/>
                  <a:pt x="158750" y="177721"/>
                </a:cubicBezTo>
                <a:cubicBezTo>
                  <a:pt x="171238" y="178118"/>
                  <a:pt x="181046" y="189786"/>
                  <a:pt x="180693" y="203835"/>
                </a:cubicBezTo>
                <a:cubicBezTo>
                  <a:pt x="180693" y="204549"/>
                  <a:pt x="180693" y="205264"/>
                  <a:pt x="180693" y="205899"/>
                </a:cubicBezTo>
                <a:cubicBezTo>
                  <a:pt x="180693" y="246459"/>
                  <a:pt x="209903" y="279321"/>
                  <a:pt x="245957" y="279321"/>
                </a:cubicBezTo>
                <a:cubicBezTo>
                  <a:pt x="263243" y="279321"/>
                  <a:pt x="279823" y="271621"/>
                  <a:pt x="292100" y="257810"/>
                </a:cubicBezTo>
                <a:lnTo>
                  <a:pt x="342265" y="201374"/>
                </a:lnTo>
                <a:cubicBezTo>
                  <a:pt x="354471" y="187643"/>
                  <a:pt x="361386" y="168910"/>
                  <a:pt x="361386" y="149463"/>
                </a:cubicBezTo>
                <a:cubicBezTo>
                  <a:pt x="361386" y="108903"/>
                  <a:pt x="332176" y="76041"/>
                  <a:pt x="296122" y="76041"/>
                </a:cubicBezTo>
                <a:close/>
                <a:moveTo>
                  <a:pt x="194169" y="137557"/>
                </a:moveTo>
                <a:cubicBezTo>
                  <a:pt x="192828" y="136922"/>
                  <a:pt x="191488" y="136049"/>
                  <a:pt x="190288" y="135096"/>
                </a:cubicBezTo>
                <a:cubicBezTo>
                  <a:pt x="181398" y="129937"/>
                  <a:pt x="171238" y="127000"/>
                  <a:pt x="160584" y="127000"/>
                </a:cubicBezTo>
                <a:cubicBezTo>
                  <a:pt x="143298" y="127000"/>
                  <a:pt x="126718" y="134699"/>
                  <a:pt x="114441" y="148511"/>
                </a:cubicBezTo>
                <a:lnTo>
                  <a:pt x="64276" y="204946"/>
                </a:lnTo>
                <a:cubicBezTo>
                  <a:pt x="52070" y="218678"/>
                  <a:pt x="45156" y="237411"/>
                  <a:pt x="45156" y="256858"/>
                </a:cubicBezTo>
                <a:cubicBezTo>
                  <a:pt x="45156" y="297418"/>
                  <a:pt x="74366" y="330279"/>
                  <a:pt x="110419" y="330279"/>
                </a:cubicBezTo>
                <a:cubicBezTo>
                  <a:pt x="122061" y="330279"/>
                  <a:pt x="133421" y="326787"/>
                  <a:pt x="143369" y="320278"/>
                </a:cubicBezTo>
                <a:cubicBezTo>
                  <a:pt x="154517" y="332978"/>
                  <a:pt x="167499" y="343614"/>
                  <a:pt x="181892" y="351631"/>
                </a:cubicBezTo>
                <a:cubicBezTo>
                  <a:pt x="161996" y="370602"/>
                  <a:pt x="136737" y="381159"/>
                  <a:pt x="110419" y="381159"/>
                </a:cubicBezTo>
                <a:cubicBezTo>
                  <a:pt x="49459" y="381159"/>
                  <a:pt x="0" y="325596"/>
                  <a:pt x="0" y="256937"/>
                </a:cubicBezTo>
                <a:cubicBezTo>
                  <a:pt x="0" y="223996"/>
                  <a:pt x="11642" y="192405"/>
                  <a:pt x="32314" y="169148"/>
                </a:cubicBezTo>
                <a:lnTo>
                  <a:pt x="82479" y="112713"/>
                </a:lnTo>
                <a:cubicBezTo>
                  <a:pt x="103152" y="89456"/>
                  <a:pt x="131233" y="76359"/>
                  <a:pt x="160514" y="76359"/>
                </a:cubicBezTo>
                <a:cubicBezTo>
                  <a:pt x="221615" y="76359"/>
                  <a:pt x="270933" y="132398"/>
                  <a:pt x="270933" y="200898"/>
                </a:cubicBezTo>
                <a:cubicBezTo>
                  <a:pt x="270933" y="201930"/>
                  <a:pt x="270933" y="202962"/>
                  <a:pt x="270933" y="203994"/>
                </a:cubicBezTo>
                <a:cubicBezTo>
                  <a:pt x="270651" y="218043"/>
                  <a:pt x="260279" y="229076"/>
                  <a:pt x="247791" y="228759"/>
                </a:cubicBezTo>
                <a:cubicBezTo>
                  <a:pt x="235303" y="228441"/>
                  <a:pt x="225496" y="216773"/>
                  <a:pt x="225778" y="202724"/>
                </a:cubicBezTo>
                <a:cubicBezTo>
                  <a:pt x="225778" y="202089"/>
                  <a:pt x="225778" y="201533"/>
                  <a:pt x="225778" y="200898"/>
                </a:cubicBezTo>
                <a:cubicBezTo>
                  <a:pt x="225778" y="174149"/>
                  <a:pt x="213078" y="150654"/>
                  <a:pt x="194169" y="13771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714500" y="6032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自动连边机制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65405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autoLinkExternalNodes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按名称大小写不敏感精确匹配，将外部节点与 ARXML 节点建立最多 3 条 references 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前端实现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4699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4699000" cy="6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4191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React + TypeScript + Vite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Cytoscape.js 图谱渲染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cytoscape-cose-bilkent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cytoscape-dagre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ProtoBus gRPC 客户端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2095500"/>
            <a:ext cx="4699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6642" y="7154"/>
                </a:moveTo>
                <a:lnTo>
                  <a:pt x="159958" y="109736"/>
                </a:lnTo>
                <a:cubicBezTo>
                  <a:pt x="141993" y="123210"/>
                  <a:pt x="130572" y="145088"/>
                  <a:pt x="128720" y="168979"/>
                </a:cubicBezTo>
                <a:cubicBezTo>
                  <a:pt x="167181" y="177869"/>
                  <a:pt x="197494" y="211971"/>
                  <a:pt x="205458" y="255310"/>
                </a:cubicBezTo>
                <a:cubicBezTo>
                  <a:pt x="226757" y="253226"/>
                  <a:pt x="246142" y="240377"/>
                  <a:pt x="258119" y="220166"/>
                </a:cubicBezTo>
                <a:lnTo>
                  <a:pt x="349241" y="66328"/>
                </a:lnTo>
                <a:cubicBezTo>
                  <a:pt x="353378" y="59313"/>
                  <a:pt x="355600" y="51117"/>
                  <a:pt x="355600" y="42644"/>
                </a:cubicBezTo>
                <a:cubicBezTo>
                  <a:pt x="355600" y="19100"/>
                  <a:pt x="338623" y="0"/>
                  <a:pt x="317694" y="0"/>
                </a:cubicBezTo>
                <a:cubicBezTo>
                  <a:pt x="310224" y="0"/>
                  <a:pt x="302877" y="2500"/>
                  <a:pt x="296642" y="7154"/>
                </a:cubicBezTo>
                <a:close/>
                <a:moveTo>
                  <a:pt x="177800" y="277813"/>
                </a:moveTo>
                <a:cubicBezTo>
                  <a:pt x="177800" y="234821"/>
                  <a:pt x="146870" y="200025"/>
                  <a:pt x="108656" y="200025"/>
                </a:cubicBezTo>
                <a:cubicBezTo>
                  <a:pt x="70441" y="200025"/>
                  <a:pt x="39511" y="234821"/>
                  <a:pt x="39511" y="277813"/>
                </a:cubicBezTo>
                <a:cubicBezTo>
                  <a:pt x="39511" y="280521"/>
                  <a:pt x="39635" y="283230"/>
                  <a:pt x="39882" y="285869"/>
                </a:cubicBezTo>
                <a:cubicBezTo>
                  <a:pt x="40993" y="298023"/>
                  <a:pt x="33584" y="311150"/>
                  <a:pt x="22719" y="311150"/>
                </a:cubicBezTo>
                <a:lnTo>
                  <a:pt x="19756" y="311150"/>
                </a:lnTo>
                <a:cubicBezTo>
                  <a:pt x="8828" y="311150"/>
                  <a:pt x="0" y="321082"/>
                  <a:pt x="0" y="333375"/>
                </a:cubicBezTo>
                <a:cubicBezTo>
                  <a:pt x="0" y="345668"/>
                  <a:pt x="8828" y="355600"/>
                  <a:pt x="19756" y="355600"/>
                </a:cubicBezTo>
                <a:lnTo>
                  <a:pt x="108656" y="355600"/>
                </a:lnTo>
                <a:cubicBezTo>
                  <a:pt x="146870" y="355600"/>
                  <a:pt x="177800" y="320804"/>
                  <a:pt x="177800" y="277813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图谱渲染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2819400"/>
            <a:ext cx="4191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AR-PACKAGE 作为 parent 节点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TYPE_COLORS / TYPE_RADIUS 映射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RELATION_COLORS 边样式映射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7 种布局算法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cose-bilkent / dagre 优化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2095500"/>
            <a:ext cx="4699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1600" y="27781"/>
                </a:moveTo>
                <a:cubicBezTo>
                  <a:pt x="101600" y="12432"/>
                  <a:pt x="115808" y="0"/>
                  <a:pt x="133350" y="0"/>
                </a:cubicBezTo>
                <a:cubicBezTo>
                  <a:pt x="150892" y="0"/>
                  <a:pt x="165100" y="12432"/>
                  <a:pt x="165100" y="27781"/>
                </a:cubicBezTo>
                <a:lnTo>
                  <a:pt x="165100" y="130711"/>
                </a:lnTo>
                <a:cubicBezTo>
                  <a:pt x="171847" y="125432"/>
                  <a:pt x="180737" y="122238"/>
                  <a:pt x="190500" y="122238"/>
                </a:cubicBezTo>
                <a:cubicBezTo>
                  <a:pt x="206851" y="122238"/>
                  <a:pt x="220821" y="131266"/>
                  <a:pt x="226219" y="143907"/>
                </a:cubicBezTo>
                <a:cubicBezTo>
                  <a:pt x="233204" y="137448"/>
                  <a:pt x="243046" y="133350"/>
                  <a:pt x="254000" y="133350"/>
                </a:cubicBezTo>
                <a:cubicBezTo>
                  <a:pt x="274082" y="133350"/>
                  <a:pt x="290513" y="146893"/>
                  <a:pt x="292021" y="164118"/>
                </a:cubicBezTo>
                <a:cubicBezTo>
                  <a:pt x="298768" y="158770"/>
                  <a:pt x="307737" y="155575"/>
                  <a:pt x="317500" y="155575"/>
                </a:cubicBezTo>
                <a:cubicBezTo>
                  <a:pt x="338534" y="155575"/>
                  <a:pt x="355600" y="170507"/>
                  <a:pt x="355600" y="188913"/>
                </a:cubicBezTo>
                <a:lnTo>
                  <a:pt x="355600" y="266700"/>
                </a:lnTo>
                <a:cubicBezTo>
                  <a:pt x="355600" y="315803"/>
                  <a:pt x="310118" y="355600"/>
                  <a:pt x="254000" y="355600"/>
                </a:cubicBezTo>
                <a:lnTo>
                  <a:pt x="186293" y="355600"/>
                </a:lnTo>
                <a:cubicBezTo>
                  <a:pt x="182324" y="355600"/>
                  <a:pt x="178435" y="355392"/>
                  <a:pt x="174625" y="354905"/>
                </a:cubicBezTo>
                <a:cubicBezTo>
                  <a:pt x="130731" y="351016"/>
                  <a:pt x="90329" y="331291"/>
                  <a:pt x="63500" y="300038"/>
                </a:cubicBezTo>
                <a:lnTo>
                  <a:pt x="6350" y="233363"/>
                </a:lnTo>
                <a:cubicBezTo>
                  <a:pt x="-4207" y="221069"/>
                  <a:pt x="-1349" y="203706"/>
                  <a:pt x="12700" y="194469"/>
                </a:cubicBezTo>
                <a:cubicBezTo>
                  <a:pt x="26749" y="185231"/>
                  <a:pt x="46593" y="187732"/>
                  <a:pt x="57150" y="200025"/>
                </a:cubicBezTo>
                <a:lnTo>
                  <a:pt x="101600" y="251906"/>
                </a:lnTo>
                <a:lnTo>
                  <a:pt x="101600" y="27781"/>
                </a:lnTo>
                <a:close/>
                <a:moveTo>
                  <a:pt x="190500" y="211138"/>
                </a:moveTo>
                <a:cubicBezTo>
                  <a:pt x="190500" y="205026"/>
                  <a:pt x="184785" y="200025"/>
                  <a:pt x="177800" y="200025"/>
                </a:cubicBezTo>
                <a:cubicBezTo>
                  <a:pt x="170815" y="200025"/>
                  <a:pt x="165100" y="205026"/>
                  <a:pt x="165100" y="211138"/>
                </a:cubicBezTo>
                <a:lnTo>
                  <a:pt x="165100" y="277813"/>
                </a:lnTo>
                <a:cubicBezTo>
                  <a:pt x="165100" y="283924"/>
                  <a:pt x="170815" y="288925"/>
                  <a:pt x="177800" y="288925"/>
                </a:cubicBezTo>
                <a:cubicBezTo>
                  <a:pt x="184785" y="288925"/>
                  <a:pt x="190500" y="283924"/>
                  <a:pt x="190500" y="277813"/>
                </a:cubicBezTo>
                <a:lnTo>
                  <a:pt x="190500" y="211138"/>
                </a:lnTo>
                <a:close/>
                <a:moveTo>
                  <a:pt x="228600" y="200025"/>
                </a:moveTo>
                <a:cubicBezTo>
                  <a:pt x="221615" y="200025"/>
                  <a:pt x="215900" y="205026"/>
                  <a:pt x="215900" y="211138"/>
                </a:cubicBezTo>
                <a:lnTo>
                  <a:pt x="215900" y="277813"/>
                </a:lnTo>
                <a:cubicBezTo>
                  <a:pt x="215900" y="283924"/>
                  <a:pt x="221615" y="288925"/>
                  <a:pt x="228600" y="288925"/>
                </a:cubicBezTo>
                <a:cubicBezTo>
                  <a:pt x="235585" y="288925"/>
                  <a:pt x="241300" y="283924"/>
                  <a:pt x="241300" y="277813"/>
                </a:cubicBezTo>
                <a:lnTo>
                  <a:pt x="241300" y="211138"/>
                </a:lnTo>
                <a:cubicBezTo>
                  <a:pt x="241300" y="205026"/>
                  <a:pt x="235585" y="200025"/>
                  <a:pt x="228600" y="200025"/>
                </a:cubicBezTo>
                <a:close/>
                <a:moveTo>
                  <a:pt x="292100" y="211138"/>
                </a:moveTo>
                <a:cubicBezTo>
                  <a:pt x="292100" y="205026"/>
                  <a:pt x="286385" y="200025"/>
                  <a:pt x="279400" y="200025"/>
                </a:cubicBezTo>
                <a:cubicBezTo>
                  <a:pt x="272415" y="200025"/>
                  <a:pt x="266700" y="205026"/>
                  <a:pt x="266700" y="211138"/>
                </a:cubicBezTo>
                <a:lnTo>
                  <a:pt x="266700" y="277813"/>
                </a:lnTo>
                <a:cubicBezTo>
                  <a:pt x="266700" y="283924"/>
                  <a:pt x="272415" y="288925"/>
                  <a:pt x="279400" y="288925"/>
                </a:cubicBezTo>
                <a:cubicBezTo>
                  <a:pt x="286385" y="288925"/>
                  <a:pt x="292100" y="283924"/>
                  <a:pt x="292100" y="277813"/>
                </a:cubicBezTo>
                <a:lnTo>
                  <a:pt x="292100" y="21113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15316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交互功能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819400"/>
            <a:ext cx="4191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类型过滤 chip 列表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关系过滤 chip 列表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实时搜索过滤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双击打开源文件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面包屑导航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2000" y="488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外部节点集成流程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2794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500" y="5397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点击 Link 按钮</a:t>
            </a:r>
            <a:endParaRPr lang="en-US" sz="14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 DBC / Excel / Simulink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83000" y="5524500"/>
            <a:ext cx="381000" cy="0"/>
          </a:xfrm>
          <a:prstGeom prst="straightConnector1">
            <a:avLst/>
          </a:prstGeom>
          <a:noFill/>
          <a:ln w="2540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191000" y="5334000"/>
            <a:ext cx="2794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1500" y="5397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选择文件</a:t>
            </a:r>
            <a:endParaRPr lang="en-US" sz="14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FileServiceClient.selectFiles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112000" y="5524500"/>
            <a:ext cx="381000" cy="0"/>
          </a:xfrm>
          <a:prstGeom prst="straightConnector1">
            <a:avLst/>
          </a:prstGeom>
          <a:noFill/>
          <a:ln w="2540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620000" y="5334000"/>
            <a:ext cx="2794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0500" y="5397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调用 parse RPC</a:t>
            </a:r>
            <a:endParaRPr lang="en-US" sz="14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解析为外部节点+边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41000" y="5524500"/>
            <a:ext cx="381000" cy="0"/>
          </a:xfrm>
          <a:prstGeom prst="straightConnector1">
            <a:avLst/>
          </a:prstGeom>
          <a:noFill/>
          <a:ln w="2540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1049000" y="5397500"/>
            <a:ext cx="4445000" cy="1079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11239500" y="5397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autoLinkExternalNodes</a:t>
            </a:r>
            <a:endParaRPr lang="en-US" sz="1400" dirty="0"/>
          </a:p>
          <a:p>
            <a:pPr algn="ctr">
              <a:lnSpc>
                <a:spcPct val="160000"/>
              </a:lnSpc>
            </a:pPr>
            <a:r>
              <a:rPr lang="en-US" sz="13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按名称匹配，建立 references 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2000" y="666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节点样式映射（部分）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7023100"/>
            <a:ext cx="147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APP-SWC #4EC9B0 r22　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P/R-PORT #3b82f6 r12　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CE91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S/R-INTERFACE #CE9178 r16　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RUNNABLE #C586C0 r13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AR-PACKAGE #808080 r20　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A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CAN-SIGNAL #FFA500 r11　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C89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EXCEL-IF #9C89B8 r11　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69B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SIMULINK #FF69B4 r11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2000" y="7747000"/>
            <a:ext cx="14732000" cy="698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78486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导出：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PNG 高分辨率　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Mermaid 剪贴板/下载　|　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主文件：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Renderer.tsx / View.tsx / Dashboard.tsx / Wizard.tsx / QualityReportView.tsx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代码生成 Generator 技术细节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1473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222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生成流程：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加载模板 →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知识库检索 →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需求解析 →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渲染模板 →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安全修复 →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输出报告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BmsAutosarGenerateHandler.ts → BmsAutosarTemplateRenderer.ts → BmsAutosarSemanticRetrieval.ts → BmsAutosarRequirementParser.ts → fixAutosarContent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556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3556000"/>
            <a:ext cx="4699000" cy="6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42796" y="205303"/>
                </a:moveTo>
                <a:cubicBezTo>
                  <a:pt x="150760" y="198289"/>
                  <a:pt x="149741" y="187801"/>
                  <a:pt x="140388" y="181828"/>
                </a:cubicBezTo>
                <a:cubicBezTo>
                  <a:pt x="131035" y="175855"/>
                  <a:pt x="117052" y="176619"/>
                  <a:pt x="109088" y="183634"/>
                </a:cubicBezTo>
                <a:lnTo>
                  <a:pt x="64638" y="222528"/>
                </a:lnTo>
                <a:cubicBezTo>
                  <a:pt x="57507" y="228779"/>
                  <a:pt x="57507" y="237946"/>
                  <a:pt x="64638" y="244197"/>
                </a:cubicBezTo>
                <a:lnTo>
                  <a:pt x="109088" y="283091"/>
                </a:lnTo>
                <a:cubicBezTo>
                  <a:pt x="117052" y="290106"/>
                  <a:pt x="131128" y="290870"/>
                  <a:pt x="140388" y="284897"/>
                </a:cubicBezTo>
                <a:cubicBezTo>
                  <a:pt x="149648" y="278924"/>
                  <a:pt x="150760" y="268367"/>
                  <a:pt x="142796" y="261422"/>
                </a:cubicBezTo>
                <a:lnTo>
                  <a:pt x="110755" y="233363"/>
                </a:lnTo>
                <a:lnTo>
                  <a:pt x="142796" y="205303"/>
                </a:lnTo>
                <a:close/>
                <a:moveTo>
                  <a:pt x="246512" y="183634"/>
                </a:moveTo>
                <a:cubicBezTo>
                  <a:pt x="238548" y="176619"/>
                  <a:pt x="224473" y="175855"/>
                  <a:pt x="215212" y="181828"/>
                </a:cubicBezTo>
                <a:cubicBezTo>
                  <a:pt x="205952" y="187801"/>
                  <a:pt x="204840" y="198358"/>
                  <a:pt x="212804" y="205303"/>
                </a:cubicBezTo>
                <a:lnTo>
                  <a:pt x="244845" y="233363"/>
                </a:lnTo>
                <a:lnTo>
                  <a:pt x="212804" y="261422"/>
                </a:lnTo>
                <a:cubicBezTo>
                  <a:pt x="204840" y="268436"/>
                  <a:pt x="205859" y="278924"/>
                  <a:pt x="215212" y="284897"/>
                </a:cubicBezTo>
                <a:cubicBezTo>
                  <a:pt x="224565" y="290870"/>
                  <a:pt x="238548" y="290106"/>
                  <a:pt x="246512" y="283091"/>
                </a:cubicBezTo>
                <a:lnTo>
                  <a:pt x="290962" y="244197"/>
                </a:lnTo>
                <a:cubicBezTo>
                  <a:pt x="298093" y="237946"/>
                  <a:pt x="298093" y="228779"/>
                  <a:pt x="290962" y="222528"/>
                </a:cubicBezTo>
                <a:lnTo>
                  <a:pt x="246512" y="18363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3810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模板系统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2799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assets/bms-autosar/templates.json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Mustache-like 占位符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BmsAutosarTemplateContext 渲染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模板类型：SWC / Composition /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Interface / DataType / Runnable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BmsAutosarTemplateStorage.ts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78500" y="3556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8500" y="3556000"/>
            <a:ext cx="4699000" cy="6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25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7541" y="15071"/>
                </a:moveTo>
                <a:cubicBezTo>
                  <a:pt x="312331" y="-139"/>
                  <a:pt x="287744" y="-139"/>
                  <a:pt x="272534" y="15071"/>
                </a:cubicBezTo>
                <a:lnTo>
                  <a:pt x="255587" y="32018"/>
                </a:lnTo>
                <a:lnTo>
                  <a:pt x="323582" y="100013"/>
                </a:lnTo>
                <a:lnTo>
                  <a:pt x="340529" y="83066"/>
                </a:lnTo>
                <a:cubicBezTo>
                  <a:pt x="355739" y="67856"/>
                  <a:pt x="355739" y="43269"/>
                  <a:pt x="340529" y="28059"/>
                </a:cubicBezTo>
                <a:lnTo>
                  <a:pt x="327541" y="15071"/>
                </a:lnTo>
                <a:close/>
                <a:moveTo>
                  <a:pt x="119737" y="167868"/>
                </a:moveTo>
                <a:cubicBezTo>
                  <a:pt x="115501" y="172105"/>
                  <a:pt x="112236" y="177314"/>
                  <a:pt x="110361" y="183078"/>
                </a:cubicBezTo>
                <a:lnTo>
                  <a:pt x="89803" y="244753"/>
                </a:lnTo>
                <a:cubicBezTo>
                  <a:pt x="87789" y="250726"/>
                  <a:pt x="89386" y="257324"/>
                  <a:pt x="93831" y="261838"/>
                </a:cubicBezTo>
                <a:cubicBezTo>
                  <a:pt x="98276" y="266353"/>
                  <a:pt x="104874" y="267881"/>
                  <a:pt x="110917" y="265867"/>
                </a:cubicBezTo>
                <a:lnTo>
                  <a:pt x="172591" y="245308"/>
                </a:lnTo>
                <a:cubicBezTo>
                  <a:pt x="178286" y="243433"/>
                  <a:pt x="183495" y="240169"/>
                  <a:pt x="187801" y="235932"/>
                </a:cubicBezTo>
                <a:lnTo>
                  <a:pt x="300038" y="123557"/>
                </a:lnTo>
                <a:lnTo>
                  <a:pt x="232043" y="55563"/>
                </a:lnTo>
                <a:lnTo>
                  <a:pt x="119737" y="167868"/>
                </a:lnTo>
                <a:close/>
                <a:moveTo>
                  <a:pt x="66675" y="44450"/>
                </a:moveTo>
                <a:cubicBezTo>
                  <a:pt x="29865" y="44450"/>
                  <a:pt x="0" y="74315"/>
                  <a:pt x="0" y="11112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244475" y="355600"/>
                </a:lnTo>
                <a:cubicBezTo>
                  <a:pt x="281285" y="355600"/>
                  <a:pt x="311150" y="325735"/>
                  <a:pt x="311150" y="288925"/>
                </a:cubicBezTo>
                <a:lnTo>
                  <a:pt x="311150" y="222250"/>
                </a:lnTo>
                <a:cubicBezTo>
                  <a:pt x="311150" y="209957"/>
                  <a:pt x="301218" y="200025"/>
                  <a:pt x="288925" y="200025"/>
                </a:cubicBezTo>
                <a:cubicBezTo>
                  <a:pt x="276632" y="200025"/>
                  <a:pt x="266700" y="209957"/>
                  <a:pt x="266700" y="222250"/>
                </a:cubicBezTo>
                <a:lnTo>
                  <a:pt x="266700" y="288925"/>
                </a:lnTo>
                <a:cubicBezTo>
                  <a:pt x="266700" y="301218"/>
                  <a:pt x="256768" y="311150"/>
                  <a:pt x="244475" y="311150"/>
                </a:cubicBezTo>
                <a:lnTo>
                  <a:pt x="66675" y="311150"/>
                </a:lnTo>
                <a:cubicBezTo>
                  <a:pt x="54382" y="311150"/>
                  <a:pt x="44450" y="301218"/>
                  <a:pt x="44450" y="288925"/>
                </a:cubicBezTo>
                <a:lnTo>
                  <a:pt x="44450" y="111125"/>
                </a:lnTo>
                <a:cubicBezTo>
                  <a:pt x="44450" y="98832"/>
                  <a:pt x="54382" y="88900"/>
                  <a:pt x="66675" y="88900"/>
                </a:cubicBezTo>
                <a:lnTo>
                  <a:pt x="133350" y="88900"/>
                </a:lnTo>
                <a:cubicBezTo>
                  <a:pt x="145643" y="88900"/>
                  <a:pt x="155575" y="78968"/>
                  <a:pt x="155575" y="66675"/>
                </a:cubicBezTo>
                <a:cubicBezTo>
                  <a:pt x="155575" y="54382"/>
                  <a:pt x="145643" y="44450"/>
                  <a:pt x="133350" y="44450"/>
                </a:cubicBezTo>
                <a:lnTo>
                  <a:pt x="66675" y="4445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15100" y="3810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需求解析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42799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BmsAutosarRequirementParser.ts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从自然语言提取组件类型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推断端口列表 S/R、C/S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推断 Runnable 周期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10ms / 100ms / 1s 等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支持 YAML/JSON 批量配置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795000" y="3556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95000" y="3556000"/>
            <a:ext cx="4699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49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2613" y="-18752"/>
                </a:moveTo>
                <a:lnTo>
                  <a:pt x="171750" y="6806"/>
                </a:lnTo>
                <a:lnTo>
                  <a:pt x="194469" y="17085"/>
                </a:lnTo>
                <a:cubicBezTo>
                  <a:pt x="196321" y="17919"/>
                  <a:pt x="197556" y="20003"/>
                  <a:pt x="197556" y="22225"/>
                </a:cubicBezTo>
                <a:cubicBezTo>
                  <a:pt x="197556" y="24448"/>
                  <a:pt x="196321" y="26531"/>
                  <a:pt x="194469" y="27365"/>
                </a:cubicBezTo>
                <a:lnTo>
                  <a:pt x="171750" y="37644"/>
                </a:lnTo>
                <a:lnTo>
                  <a:pt x="162613" y="63202"/>
                </a:lnTo>
                <a:cubicBezTo>
                  <a:pt x="161872" y="65286"/>
                  <a:pt x="160020" y="66675"/>
                  <a:pt x="158044" y="66675"/>
                </a:cubicBezTo>
                <a:cubicBezTo>
                  <a:pt x="156069" y="66675"/>
                  <a:pt x="154217" y="65286"/>
                  <a:pt x="153476" y="63202"/>
                </a:cubicBezTo>
                <a:lnTo>
                  <a:pt x="144339" y="37644"/>
                </a:lnTo>
                <a:lnTo>
                  <a:pt x="121620" y="27365"/>
                </a:lnTo>
                <a:cubicBezTo>
                  <a:pt x="119768" y="26531"/>
                  <a:pt x="118533" y="24447"/>
                  <a:pt x="118533" y="22225"/>
                </a:cubicBezTo>
                <a:cubicBezTo>
                  <a:pt x="118533" y="20003"/>
                  <a:pt x="119768" y="17919"/>
                  <a:pt x="121620" y="17085"/>
                </a:cubicBezTo>
                <a:lnTo>
                  <a:pt x="144339" y="6806"/>
                </a:lnTo>
                <a:lnTo>
                  <a:pt x="153476" y="-18752"/>
                </a:lnTo>
                <a:cubicBezTo>
                  <a:pt x="154217" y="-20836"/>
                  <a:pt x="156069" y="-22225"/>
                  <a:pt x="158044" y="-22225"/>
                </a:cubicBezTo>
                <a:cubicBezTo>
                  <a:pt x="160020" y="-22225"/>
                  <a:pt x="161872" y="-20836"/>
                  <a:pt x="162613" y="-18752"/>
                </a:cubicBezTo>
                <a:close/>
                <a:moveTo>
                  <a:pt x="68342" y="28962"/>
                </a:moveTo>
                <a:lnTo>
                  <a:pt x="81615" y="63758"/>
                </a:lnTo>
                <a:lnTo>
                  <a:pt x="112545" y="78690"/>
                </a:lnTo>
                <a:cubicBezTo>
                  <a:pt x="116187" y="80427"/>
                  <a:pt x="118533" y="84455"/>
                  <a:pt x="118533" y="88900"/>
                </a:cubicBezTo>
                <a:cubicBezTo>
                  <a:pt x="118533" y="93345"/>
                  <a:pt x="116187" y="97373"/>
                  <a:pt x="112545" y="99110"/>
                </a:cubicBezTo>
                <a:lnTo>
                  <a:pt x="81615" y="114042"/>
                </a:lnTo>
                <a:lnTo>
                  <a:pt x="68342" y="148838"/>
                </a:lnTo>
                <a:cubicBezTo>
                  <a:pt x="66798" y="152936"/>
                  <a:pt x="63218" y="155575"/>
                  <a:pt x="59267" y="155575"/>
                </a:cubicBezTo>
                <a:cubicBezTo>
                  <a:pt x="55316" y="155575"/>
                  <a:pt x="51735" y="152936"/>
                  <a:pt x="50191" y="148838"/>
                </a:cubicBezTo>
                <a:lnTo>
                  <a:pt x="36918" y="114042"/>
                </a:lnTo>
                <a:lnTo>
                  <a:pt x="5988" y="99110"/>
                </a:lnTo>
                <a:cubicBezTo>
                  <a:pt x="2346" y="97373"/>
                  <a:pt x="0" y="93345"/>
                  <a:pt x="0" y="88900"/>
                </a:cubicBezTo>
                <a:cubicBezTo>
                  <a:pt x="0" y="84455"/>
                  <a:pt x="2346" y="80427"/>
                  <a:pt x="5988" y="78690"/>
                </a:cubicBezTo>
                <a:lnTo>
                  <a:pt x="36918" y="63758"/>
                </a:lnTo>
                <a:lnTo>
                  <a:pt x="50191" y="28962"/>
                </a:lnTo>
                <a:cubicBezTo>
                  <a:pt x="51735" y="24864"/>
                  <a:pt x="55316" y="22225"/>
                  <a:pt x="59267" y="22225"/>
                </a:cubicBezTo>
                <a:cubicBezTo>
                  <a:pt x="63218" y="22225"/>
                  <a:pt x="66798" y="24864"/>
                  <a:pt x="68342" y="28962"/>
                </a:cubicBezTo>
                <a:close/>
                <a:moveTo>
                  <a:pt x="286456" y="211138"/>
                </a:moveTo>
                <a:cubicBezTo>
                  <a:pt x="290407" y="211138"/>
                  <a:pt x="293987" y="213777"/>
                  <a:pt x="295531" y="217874"/>
                </a:cubicBezTo>
                <a:lnTo>
                  <a:pt x="308804" y="252670"/>
                </a:lnTo>
                <a:lnTo>
                  <a:pt x="339734" y="267603"/>
                </a:lnTo>
                <a:cubicBezTo>
                  <a:pt x="343376" y="269339"/>
                  <a:pt x="345722" y="273368"/>
                  <a:pt x="345722" y="277813"/>
                </a:cubicBezTo>
                <a:cubicBezTo>
                  <a:pt x="345722" y="282257"/>
                  <a:pt x="343376" y="286286"/>
                  <a:pt x="339734" y="288022"/>
                </a:cubicBezTo>
                <a:lnTo>
                  <a:pt x="308804" y="302955"/>
                </a:lnTo>
                <a:lnTo>
                  <a:pt x="295531" y="337751"/>
                </a:lnTo>
                <a:cubicBezTo>
                  <a:pt x="293987" y="341848"/>
                  <a:pt x="290407" y="344488"/>
                  <a:pt x="286456" y="344488"/>
                </a:cubicBezTo>
                <a:cubicBezTo>
                  <a:pt x="282504" y="344488"/>
                  <a:pt x="278924" y="341848"/>
                  <a:pt x="277380" y="337751"/>
                </a:cubicBezTo>
                <a:lnTo>
                  <a:pt x="264107" y="302955"/>
                </a:lnTo>
                <a:lnTo>
                  <a:pt x="233177" y="288022"/>
                </a:lnTo>
                <a:cubicBezTo>
                  <a:pt x="229535" y="286286"/>
                  <a:pt x="227189" y="282257"/>
                  <a:pt x="227189" y="277813"/>
                </a:cubicBezTo>
                <a:cubicBezTo>
                  <a:pt x="227189" y="273368"/>
                  <a:pt x="229535" y="269339"/>
                  <a:pt x="233177" y="267603"/>
                </a:cubicBezTo>
                <a:lnTo>
                  <a:pt x="264107" y="252670"/>
                </a:lnTo>
                <a:lnTo>
                  <a:pt x="277380" y="217874"/>
                </a:lnTo>
                <a:cubicBezTo>
                  <a:pt x="278924" y="213777"/>
                  <a:pt x="282504" y="211138"/>
                  <a:pt x="286456" y="211138"/>
                </a:cubicBezTo>
                <a:close/>
                <a:moveTo>
                  <a:pt x="283986" y="0"/>
                </a:moveTo>
                <a:cubicBezTo>
                  <a:pt x="290777" y="0"/>
                  <a:pt x="297321" y="3056"/>
                  <a:pt x="302198" y="8473"/>
                </a:cubicBezTo>
                <a:lnTo>
                  <a:pt x="328313" y="37852"/>
                </a:lnTo>
                <a:cubicBezTo>
                  <a:pt x="333128" y="43339"/>
                  <a:pt x="335844" y="50701"/>
                  <a:pt x="335844" y="58341"/>
                </a:cubicBezTo>
                <a:cubicBezTo>
                  <a:pt x="335844" y="65980"/>
                  <a:pt x="333128" y="73343"/>
                  <a:pt x="328313" y="78829"/>
                </a:cubicBezTo>
                <a:lnTo>
                  <a:pt x="273861" y="140087"/>
                </a:lnTo>
                <a:lnTo>
                  <a:pt x="211323" y="69731"/>
                </a:lnTo>
                <a:lnTo>
                  <a:pt x="265774" y="8473"/>
                </a:lnTo>
                <a:cubicBezTo>
                  <a:pt x="270651" y="3056"/>
                  <a:pt x="277195" y="0"/>
                  <a:pt x="283986" y="0"/>
                </a:cubicBezTo>
                <a:close/>
                <a:moveTo>
                  <a:pt x="27287" y="276771"/>
                </a:moveTo>
                <a:lnTo>
                  <a:pt x="190394" y="93276"/>
                </a:lnTo>
                <a:lnTo>
                  <a:pt x="252933" y="163632"/>
                </a:lnTo>
                <a:lnTo>
                  <a:pt x="89826" y="347127"/>
                </a:lnTo>
                <a:cubicBezTo>
                  <a:pt x="84949" y="352544"/>
                  <a:pt x="78405" y="355600"/>
                  <a:pt x="71614" y="355600"/>
                </a:cubicBezTo>
                <a:cubicBezTo>
                  <a:pt x="64823" y="355600"/>
                  <a:pt x="58279" y="352544"/>
                  <a:pt x="53402" y="347127"/>
                </a:cubicBezTo>
                <a:lnTo>
                  <a:pt x="27287" y="317748"/>
                </a:lnTo>
                <a:cubicBezTo>
                  <a:pt x="22472" y="312261"/>
                  <a:pt x="19756" y="304899"/>
                  <a:pt x="19756" y="297259"/>
                </a:cubicBezTo>
                <a:cubicBezTo>
                  <a:pt x="19756" y="289620"/>
                  <a:pt x="22472" y="282257"/>
                  <a:pt x="27287" y="27677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1531600" y="3810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向导界面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42799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BmsAutosarWizard.tsx + .presets.ts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可视化选择组件类型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端口 / Runnable / ASIL 等级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内置 BMS 预设：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状态估计 / 功率限制 /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绝缘监测 / 电流传感器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2000" y="6858000"/>
            <a:ext cx="14732000" cy="825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68961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输出产物：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.c / .h 代码　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.arxml 描述　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_Types.arxml　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BmsAutosarProgressBus.ts 进度报告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安全修复：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fixAutosarContent (trailing whitespace / 换行统一 / include guard)　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BmsAutosarAutoFixer.ts 自动修复闭环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质量报告 Quality Gates 技术细节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4699000" cy="6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MISRA C 检查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419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BmsAutosarMisraChecker.ts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正则 + 简单 AST 检查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覆盖规则：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R21.3 / R17.7 / R11.3 / R10.1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输出 MisraIssue 列表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rule / line / message / severity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2095500"/>
            <a:ext cx="4699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ASIL 安全分析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28194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BmsAutosarAsilSafetyChecker.ts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推断 ASIL 等级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QM / A / B / C / D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检查安全函数/变量/端口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是否符合 ASIL 设计约束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getAsilDesignGuidelines()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生成对应 ASIL 设计建议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2095500"/>
            <a:ext cx="4699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2" y="286494"/>
                </a:moveTo>
                <a:lnTo>
                  <a:pt x="69106" y="100568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0"/>
                  <a:pt x="104180" y="311150"/>
                  <a:pt x="177800" y="311150"/>
                </a:cubicBezTo>
                <a:cubicBezTo>
                  <a:pt x="206623" y="311150"/>
                  <a:pt x="233293" y="302052"/>
                  <a:pt x="255032" y="286494"/>
                </a:cubicBezTo>
                <a:close/>
                <a:moveTo>
                  <a:pt x="286494" y="255032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80"/>
                  <a:pt x="251420" y="44450"/>
                  <a:pt x="177800" y="44450"/>
                </a:cubicBezTo>
                <a:cubicBezTo>
                  <a:pt x="148977" y="44450"/>
                  <a:pt x="122307" y="53548"/>
                  <a:pt x="100568" y="69106"/>
                </a:cubicBezTo>
                <a:lnTo>
                  <a:pt x="286494" y="255032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1531600" y="2349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抑制注释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8194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BmsAutosarQualitySuppressions.ts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// bms-qg-disable-line R21.3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// bms-qg-disable-next-line R21.3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// bms-qg-disable R21.3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// bms-qg-enable R21.3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// bms-qg-disable all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// bms-qg-enable all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规则 ID 大小写不敏感，支持逗号分隔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588000"/>
            <a:ext cx="7112000" cy="177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571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9410" y="78264"/>
                </a:moveTo>
                <a:cubicBezTo>
                  <a:pt x="364772" y="72231"/>
                  <a:pt x="373733" y="73739"/>
                  <a:pt x="376414" y="81677"/>
                </a:cubicBezTo>
                <a:cubicBezTo>
                  <a:pt x="381212" y="95726"/>
                  <a:pt x="383822" y="111046"/>
                  <a:pt x="383822" y="127000"/>
                </a:cubicBezTo>
                <a:cubicBezTo>
                  <a:pt x="383822" y="197168"/>
                  <a:pt x="333304" y="254000"/>
                  <a:pt x="270933" y="254000"/>
                </a:cubicBezTo>
                <a:cubicBezTo>
                  <a:pt x="258586" y="254000"/>
                  <a:pt x="246662" y="251777"/>
                  <a:pt x="235514" y="247650"/>
                </a:cubicBezTo>
                <a:lnTo>
                  <a:pt x="103646" y="396002"/>
                </a:lnTo>
                <a:cubicBezTo>
                  <a:pt x="83820" y="418306"/>
                  <a:pt x="51647" y="418306"/>
                  <a:pt x="31821" y="396002"/>
                </a:cubicBezTo>
                <a:cubicBezTo>
                  <a:pt x="11994" y="373697"/>
                  <a:pt x="11994" y="337502"/>
                  <a:pt x="31821" y="315198"/>
                </a:cubicBezTo>
                <a:lnTo>
                  <a:pt x="163689" y="166846"/>
                </a:lnTo>
                <a:cubicBezTo>
                  <a:pt x="160020" y="154305"/>
                  <a:pt x="158044" y="140970"/>
                  <a:pt x="158044" y="127000"/>
                </a:cubicBezTo>
                <a:cubicBezTo>
                  <a:pt x="158044" y="56832"/>
                  <a:pt x="208562" y="0"/>
                  <a:pt x="270933" y="0"/>
                </a:cubicBezTo>
                <a:cubicBezTo>
                  <a:pt x="285115" y="0"/>
                  <a:pt x="298732" y="2937"/>
                  <a:pt x="311221" y="8334"/>
                </a:cubicBezTo>
                <a:cubicBezTo>
                  <a:pt x="318276" y="11351"/>
                  <a:pt x="319546" y="21431"/>
                  <a:pt x="314254" y="27464"/>
                </a:cubicBezTo>
                <a:lnTo>
                  <a:pt x="251672" y="97869"/>
                </a:lnTo>
                <a:cubicBezTo>
                  <a:pt x="249555" y="100251"/>
                  <a:pt x="248356" y="103505"/>
                  <a:pt x="248356" y="106839"/>
                </a:cubicBezTo>
                <a:lnTo>
                  <a:pt x="248356" y="139700"/>
                </a:lnTo>
                <a:cubicBezTo>
                  <a:pt x="248356" y="146685"/>
                  <a:pt x="253436" y="152400"/>
                  <a:pt x="259644" y="152400"/>
                </a:cubicBezTo>
                <a:lnTo>
                  <a:pt x="288854" y="152400"/>
                </a:lnTo>
                <a:cubicBezTo>
                  <a:pt x="291818" y="152400"/>
                  <a:pt x="294711" y="151051"/>
                  <a:pt x="296827" y="148669"/>
                </a:cubicBezTo>
                <a:lnTo>
                  <a:pt x="359410" y="78264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714500" y="5689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自动修复闭环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61722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BmsAutosarAutoFixer.ts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自动生成修复 → 重跑 QualityGates → 返回残余问题（闭环）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fixAutosarContent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trailing whitespace / 换行统一 / include guard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82000" y="5588000"/>
            <a:ext cx="711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2000" y="5588000"/>
            <a:ext cx="7112000" cy="6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86360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32157"/>
                  <a:pt x="9932" y="22225"/>
                  <a:pt x="22225" y="22225"/>
                </a:cubicBezTo>
                <a:lnTo>
                  <a:pt x="333375" y="22225"/>
                </a:lnTo>
                <a:cubicBezTo>
                  <a:pt x="345668" y="22225"/>
                  <a:pt x="355600" y="32157"/>
                  <a:pt x="355600" y="44450"/>
                </a:cubicBezTo>
                <a:lnTo>
                  <a:pt x="355600" y="66675"/>
                </a:lnTo>
                <a:cubicBezTo>
                  <a:pt x="355600" y="78968"/>
                  <a:pt x="345668" y="88900"/>
                  <a:pt x="33337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lnTo>
                  <a:pt x="0" y="44450"/>
                </a:lnTo>
                <a:close/>
                <a:moveTo>
                  <a:pt x="22225" y="122238"/>
                </a:moveTo>
                <a:lnTo>
                  <a:pt x="333375" y="122238"/>
                </a:lnTo>
                <a:lnTo>
                  <a:pt x="333375" y="288925"/>
                </a:lnTo>
                <a:cubicBezTo>
                  <a:pt x="333375" y="313442"/>
                  <a:pt x="313442" y="333375"/>
                  <a:pt x="288925" y="333375"/>
                </a:cubicBezTo>
                <a:lnTo>
                  <a:pt x="66675" y="333375"/>
                </a:lnTo>
                <a:cubicBezTo>
                  <a:pt x="42158" y="333375"/>
                  <a:pt x="22225" y="313442"/>
                  <a:pt x="22225" y="288925"/>
                </a:cubicBezTo>
                <a:lnTo>
                  <a:pt x="22225" y="122238"/>
                </a:lnTo>
                <a:close/>
                <a:moveTo>
                  <a:pt x="127794" y="166688"/>
                </a:moveTo>
                <a:cubicBezTo>
                  <a:pt x="118556" y="166688"/>
                  <a:pt x="111125" y="174119"/>
                  <a:pt x="111125" y="183356"/>
                </a:cubicBezTo>
                <a:cubicBezTo>
                  <a:pt x="111125" y="192594"/>
                  <a:pt x="118556" y="200025"/>
                  <a:pt x="127794" y="200025"/>
                </a:cubicBezTo>
                <a:lnTo>
                  <a:pt x="227806" y="200025"/>
                </a:lnTo>
                <a:cubicBezTo>
                  <a:pt x="237044" y="200025"/>
                  <a:pt x="244475" y="192594"/>
                  <a:pt x="244475" y="183356"/>
                </a:cubicBezTo>
                <a:cubicBezTo>
                  <a:pt x="244475" y="174119"/>
                  <a:pt x="237044" y="166688"/>
                  <a:pt x="227806" y="166688"/>
                </a:cubicBezTo>
                <a:lnTo>
                  <a:pt x="127794" y="16668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9118600" y="5689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质量报告存储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36000" y="61722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BmsAutosarQualityReportStore.ts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持久化到工作区或全局存储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支持按文件 / category / severity 查询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宿主端集成与构建验证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7112000" cy="6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61119" y="88900"/>
                </a:moveTo>
                <a:lnTo>
                  <a:pt x="294481" y="88900"/>
                </a:lnTo>
                <a:cubicBezTo>
                  <a:pt x="303719" y="88900"/>
                  <a:pt x="311150" y="96331"/>
                  <a:pt x="311150" y="105569"/>
                </a:cubicBezTo>
                <a:cubicBezTo>
                  <a:pt x="311150" y="114806"/>
                  <a:pt x="303719" y="122238"/>
                  <a:pt x="294481" y="122238"/>
                </a:cubicBezTo>
                <a:lnTo>
                  <a:pt x="61119" y="122238"/>
                </a:lnTo>
                <a:cubicBezTo>
                  <a:pt x="51881" y="122238"/>
                  <a:pt x="44450" y="114806"/>
                  <a:pt x="44450" y="105569"/>
                </a:cubicBezTo>
                <a:cubicBezTo>
                  <a:pt x="44450" y="96331"/>
                  <a:pt x="51881" y="88900"/>
                  <a:pt x="61119" y="889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层：打开 ARXML 源文件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19400"/>
            <a:ext cx="6604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openArxmlSource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handler 不直接调用 vscode.*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而是通过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HostProvider.window.showTextDocument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src/hosts/vscode/hostbridge/window/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showTextDocument.ts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读取 selection 字段 → 转换为 VS Code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Selection 对象 → 实现行号精确定位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保证 Standalone / VS Code 等多种宿主模式下行为一致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82000" y="2095500"/>
            <a:ext cx="711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2095500"/>
            <a:ext cx="7112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7184" y="12710"/>
                </a:moveTo>
                <a:lnTo>
                  <a:pt x="150574" y="2639"/>
                </a:lnTo>
                <a:cubicBezTo>
                  <a:pt x="162576" y="-6390"/>
                  <a:pt x="176300" y="-11112"/>
                  <a:pt x="190302" y="-11112"/>
                </a:cubicBezTo>
                <a:cubicBezTo>
                  <a:pt x="210749" y="-11112"/>
                  <a:pt x="230418" y="-972"/>
                  <a:pt x="244864" y="17155"/>
                </a:cubicBezTo>
                <a:lnTo>
                  <a:pt x="280368" y="61535"/>
                </a:lnTo>
                <a:cubicBezTo>
                  <a:pt x="288703" y="71953"/>
                  <a:pt x="293370" y="86122"/>
                  <a:pt x="293370" y="100846"/>
                </a:cubicBezTo>
                <a:lnTo>
                  <a:pt x="293370" y="122307"/>
                </a:lnTo>
                <a:lnTo>
                  <a:pt x="304316" y="135989"/>
                </a:lnTo>
                <a:lnTo>
                  <a:pt x="304316" y="135989"/>
                </a:lnTo>
                <a:cubicBezTo>
                  <a:pt x="312984" y="125155"/>
                  <a:pt x="327041" y="125155"/>
                  <a:pt x="335764" y="135989"/>
                </a:cubicBezTo>
                <a:cubicBezTo>
                  <a:pt x="344488" y="146824"/>
                  <a:pt x="344432" y="164396"/>
                  <a:pt x="335764" y="175300"/>
                </a:cubicBezTo>
                <a:lnTo>
                  <a:pt x="300204" y="219750"/>
                </a:lnTo>
                <a:cubicBezTo>
                  <a:pt x="291536" y="230584"/>
                  <a:pt x="277479" y="230584"/>
                  <a:pt x="268756" y="219750"/>
                </a:cubicBezTo>
                <a:cubicBezTo>
                  <a:pt x="260033" y="208915"/>
                  <a:pt x="260088" y="191343"/>
                  <a:pt x="268756" y="180439"/>
                </a:cubicBezTo>
                <a:lnTo>
                  <a:pt x="257810" y="166688"/>
                </a:lnTo>
                <a:lnTo>
                  <a:pt x="240641" y="166688"/>
                </a:lnTo>
                <a:cubicBezTo>
                  <a:pt x="228862" y="166688"/>
                  <a:pt x="217527" y="160853"/>
                  <a:pt x="209193" y="150435"/>
                </a:cubicBezTo>
                <a:lnTo>
                  <a:pt x="181912" y="116334"/>
                </a:lnTo>
                <a:cubicBezTo>
                  <a:pt x="173577" y="105916"/>
                  <a:pt x="168910" y="91748"/>
                  <a:pt x="168910" y="77024"/>
                </a:cubicBezTo>
                <a:lnTo>
                  <a:pt x="168910" y="68203"/>
                </a:lnTo>
                <a:cubicBezTo>
                  <a:pt x="168910" y="60424"/>
                  <a:pt x="165632" y="53132"/>
                  <a:pt x="160298" y="49173"/>
                </a:cubicBezTo>
                <a:lnTo>
                  <a:pt x="137184" y="31810"/>
                </a:lnTo>
                <a:cubicBezTo>
                  <a:pt x="131405" y="27503"/>
                  <a:pt x="131405" y="17085"/>
                  <a:pt x="137184" y="12779"/>
                </a:cubicBezTo>
                <a:close/>
                <a:moveTo>
                  <a:pt x="28170" y="279688"/>
                </a:moveTo>
                <a:lnTo>
                  <a:pt x="151575" y="125432"/>
                </a:lnTo>
                <a:lnTo>
                  <a:pt x="201859" y="188287"/>
                </a:lnTo>
                <a:lnTo>
                  <a:pt x="78454" y="342543"/>
                </a:lnTo>
                <a:cubicBezTo>
                  <a:pt x="64564" y="359906"/>
                  <a:pt x="42061" y="359906"/>
                  <a:pt x="28170" y="342543"/>
                </a:cubicBezTo>
                <a:cubicBezTo>
                  <a:pt x="14280" y="325180"/>
                  <a:pt x="14280" y="297051"/>
                  <a:pt x="28170" y="279688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118600" y="234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关键构建命令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2819400"/>
            <a:ext cx="6604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npm run check-types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全量 TypeScript 检查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npm run lint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Biome 代码检查 + proto lint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npm run test:unit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单元测试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npm run package:vsix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打包 VSIX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npm run protos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</a:t>
            </a:r>
            <a:pPr algn="l">
              <a:lnSpc>
                <a:spcPct val="18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重新生成 Proto 代码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5905500"/>
            <a:ext cx="14732000" cy="133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032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1716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143000" y="673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7000" y="6032500"/>
            <a:ext cx="25400" cy="889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4318000" y="5994400"/>
            <a:ext cx="1079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check-types：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通过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lint：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通过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package:vsix：成功产出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dist/claude-dev-3.89.2-bms-autosar.vsix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产物大小：约 9.12 MB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4295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7493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UI 基础设施：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ExtensionStateContext 导航状态（视图互斥）　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useBmsAutosarNotice.tsx Toast 通知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BmsAutosarProgressBus.ts 长时间任务进度条　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subscribeToBmsAutosarDashboard gRPC 流订阅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已知限制与扩展方向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95500"/>
            <a:ext cx="7112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当前限制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857500"/>
            <a:ext cx="660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DBC 信号解析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底层解析器对 demo DBC 只解析出消息、未解析出信号，需增强 DBC 语法覆盖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外部节点名称匹配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当前为大小写不敏感精确匹配，名称不一致时无法关联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Simulink 解析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基于正则，对复杂 .m 脚本支持有限，标注为实验性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ARXML 行号定位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通过 &lt;SHORT-NAME&gt; 匹配，同名元素可能定位到第一个出现位置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图谱性能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超大 ARXML（数万节点）渲染和布局性能会下降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82000" y="2095500"/>
            <a:ext cx="711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2095500"/>
            <a:ext cx="7112000" cy="6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118600" y="234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可扩展方向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36000" y="2857500"/>
            <a:ext cx="660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更多数据格式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 .ldf（LIN）、.fibex、AUTOSAR .arxml 变种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智能匹配策略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正则、前缀、fuzzy 相似度、规则映射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图谱差异对比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两个版本 ARXML 的对比可视化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基于图谱的代码生成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选中节点让 LLM 生成对应 RTE 调用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自然语言问答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知识图谱缓存到向量索引，支持 NLQ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功能总结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插件核心能力回顾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4699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349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41500" y="2349500"/>
            <a:ext cx="3365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知识图谱可视化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921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复杂 ARXML 架构一键成图，支持组合节点、关系过滤、多种布局、源文件跳转、面包屑导航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78500" y="2159000"/>
            <a:ext cx="4699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2500" y="2349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0" y="2349500"/>
            <a:ext cx="3365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外部数据联动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2500" y="2921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DBC、Excel、Simulink 数据字典统一挂图，按名称自动关联，快速发现数据不一致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795000" y="2159000"/>
            <a:ext cx="4699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49000" y="2349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874500" y="2349500"/>
            <a:ext cx="3365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代码生成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0" y="2921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基于知识库生成符合 AUTOSAR 规范的组件、接口、ARXML，一致性和可集成性更好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5080000"/>
            <a:ext cx="7112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5270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841500" y="5270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质量报告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6000" y="5842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集成 AUTOSAR 规范检查和 MISRA C 检查，自动扫描并列出错误、警告，点击直达问题位置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82000" y="5080000"/>
            <a:ext cx="7112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6000" y="52705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61500" y="5270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编译管理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36000" y="5842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多芯片/工具链编译配置统一管理，支持 Tasking、HighTec、Green Hills 等，Build 输出实时显示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2000" y="7620000"/>
            <a:ext cx="14732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7620000"/>
            <a:ext cx="139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示例工程替换为英飞凌芯片工程后，只需替换对应文件路径，整个流程完全一致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" cy="304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3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附录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演示文件速查表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159000"/>
          <a:ext cx="14732000" cy="4191000"/>
        </p:xfrm>
        <a:graphic>
          <a:graphicData uri="http://schemas.openxmlformats.org/drawingml/2006/table">
            <a:tbl>
              <a:tblPr/>
              <a:tblGrid>
                <a:gridCol w="3683000"/>
                <a:gridCol w="11049000"/>
              </a:tblGrid>
              <a:tr h="59931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功能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931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VSIX 产物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apps/vscode/dist/claude-dev-3.89.2-bms-autosar.vsix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31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示例 ARXML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AUTOSAR-BMS--main/Arxml/ECU_Composition.arxml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931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示例 DBC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AUTOSAR-BMS--main/Test/CANoe/BMS_CAN.dbc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31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示例 Excel 接口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AUTOSAR-BMS--main/Tool/BMS_Interface.xlsx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931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示例 Excel 参数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AUTOSAR-BMS--main/Tool/BMS_Parameter.xlsx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51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F172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示例 Simulink DD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AUTOSAR-BMS--main/Model/DD/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73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现场演示小技巧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2000" y="7239000"/>
            <a:ext cx="1473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6000" y="7302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紧张忘词 → 每段开头先看一眼 Dashboard/界面，再念台词　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图谱加载慢 → 提前打开一次缓存布局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DBC 不出信号 → 提前说明是示例格式问题　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无 LLM Key → Generator 只展示界面　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无工具链 → Compile 只讲配置不点 Build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732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nphlskrmgrs2/mnt/agents/output/bms-autosar-demo/images/1_Close_up_Ev_Battery_Cells_Automotive.png">    </p:cNvPr>
          <p:cNvPicPr>
            <a:picLocks noChangeAspect="1"/>
          </p:cNvPicPr>
          <p:nvPr/>
        </p:nvPicPr>
        <p:blipFill>
          <a:blip r:embed="rId1"/>
          <a:srcRect l="0" r="0" t="3594" b="359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19000"/>
                </a:srgbClr>
              </a:gs>
              <a:gs pos="40000">
                <a:srgbClr val="0F172A">
                  <a:alpha val="69000"/>
                </a:srgbClr>
              </a:gs>
              <a:gs pos="100000">
                <a:srgbClr val="0F172A">
                  <a:alpha val="91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50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55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谢谢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6858000" y="4762500"/>
            <a:ext cx="2540000" cy="50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5080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BMS AUTOSAR 插件演示 · 有问题欢迎提问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588000" y="609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claude-dev-3.89.2-bms-autosar.vsix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BMS AUTOSAR 插件演示</dc:title>
  <dc:subject>BMS AUTOSAR 插件演示</dc:subject>
  <dc:creator>Kimi</dc:creator>
  <cp:lastModifiedBy>Kimi</cp:lastModifiedBy>
  <cp:revision>1</cp:revision>
  <dcterms:created xsi:type="dcterms:W3CDTF">2026-06-24T19:55:43Z</dcterms:created>
  <dcterms:modified xsi:type="dcterms:W3CDTF">2026-06-24T19:55:43Z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{"Label":"BMS AUTOSAR 插件演示","ContentProducer":"001191110108MACG2KBH8F10000","ProduceID":"19efafed-37a2-8f5a-8000-0000f0753bc2","ReservedCode1":"","ContentPropagator":"001191110108MACG2KBH8F20000","PropagateID":"19efafb7-93e2-835c-8000-09055c48e157","ReservedCode2":""}</vt:lpwstr>
  </property>
</Properties>
</file>