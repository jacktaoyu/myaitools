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7" r:id="rId38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  <a:latin typeface="Microsoft YaHei"/>
              </a:defRPr>
            </a:pPr>
            <a:r>
              <a:t>基于RAG的BMS AUTOSAR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4BCC0"/>
                </a:solidFill>
                <a:latin typeface="Microsoft YaHei"/>
              </a:defRPr>
            </a:pPr>
            <a:r>
              <a:t>代码自动生成器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基于VS Code插件Cline的BMS专用智能代码生成工具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114800"/>
            <a:ext cx="2103120" cy="508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27FC4"/>
                </a:solidFill>
                <a:latin typeface="Microsoft YaHei"/>
              </a:defRPr>
            </a:pPr>
            <a:r>
              <a:t>AI知识库技能大赛答辩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RAG知识库 + MISRA质量门 + ARXML图谱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课题介绍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研究背景、意义、内容与目标、成员分工、预期效果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377440"/>
            <a:ext cx="91440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方案落地与技术实现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技术方案细节、研究步骤、问题与策略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3566160"/>
            <a:ext cx="91440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50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86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业务应用及性能指标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51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内容质量、技术指标、用户体验、业务指标、用户反馈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4754880"/>
            <a:ext cx="9144000" cy="12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总结与思考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440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目标达成、问题不足、后期设想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24BCC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YaHei"/>
              </a:defRPr>
            </a:pPr>
            <a:r>
              <a:t>课题介绍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研究背景与意义 · 内容与目标 · 成员分工 · 预期效果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508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BMS AUTOSAR 代码开发面临的挑战与AI赋能机遇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行业痛点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BMS代码开发高度依赖AUTOSAR专家，人才稀缺且培养周期长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传统手工编码效率低，SWC/BSW/RTE配置繁琐易出错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MISRA C:2012合规检查滞后，后期修复成本高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ARXML配置与C源码一致性难以保证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知识分散在文档、规范、历史代码中，检索困难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基于RAG构建BMS领域知识库，实现语义级精准检索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LLM驱动代码生成，覆盖SWC/BSW/RTE/ARXML全链路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内置MISRA质量门，生成即检查、检查即修复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ARXML知识图谱可视化，架构关系一目了然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VS Code插件形态，无缝集成开发工作流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0972800" cy="10058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核心价值：将BMS AUTOSAR代码开发从"专家依赖型"转变为"知识驱动型"，通过RAG+LLM+MISRA三位一体，实现从需求到合规代码的一站式自动生成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研究内容与目标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基于RAG知识库 + MISRA质量门 + ARXML图谱的BMS AUTOSAR代码生成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3346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RAG知识库增强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334670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构建BMS领域专用RAG系统，支持Hybrid检索、Query扩展、ARXML图谱增强、LLM重排序，实现高精准语义检索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66160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36192"/>
            <a:ext cx="3346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MISRA质量门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28800"/>
            <a:ext cx="334670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内置轻量级MISRA C:2012静态检查器，覆盖12条核心规则，生成代码后自动检查并支持自动修复闭环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566160" cy="2377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36192"/>
            <a:ext cx="3346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ARXML知识图谱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28800"/>
            <a:ext cx="334670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解析ARXML文件构建SWC/Port/Interface关系网络，支持多跳邻居查询与力导向可视化，增强检索相关性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研究目标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1. 实现BMS AUTOSAR SWC/BSW/RTE/ARXML/Service智能代码生成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2. RAG检索准确率达到85%以上，响应速度控制在3秒以内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3. 生成代码通过MISRA C:2012核心规则检查，违规率低于5%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4. 构建完整的VS Code插件，支持知识库管理、质量报告、ARXML图谱可视化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5. 降低BMS代码开发对AUTOSAR专家的依赖度，提升开发效率3倍以上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47120" cy="7315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2C55E"/>
                </a:solidFill>
                <a:latin typeface="Microsoft YaHei"/>
              </a:defRPr>
            </a:pPr>
            <a:r>
              <a:t>新增目标：内置编译管理器（Appl/Root工作流）+ 单元测试自动生成（Unity/CMock框架）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成员责任分工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团队协作与职责划分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0352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项目负责人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整体架构设计、技术路线规划、答辩统筹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63040"/>
            <a:ext cx="530352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153619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RAG引擎开发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1828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Embedding/BM25混合检索、Query扩展、LLM重排序、知识库管理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30352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449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代码生成模块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LLM Prompt工程、模板系统、SWC/BSW/RTE生成逻辑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971800"/>
            <a:ext cx="530352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30449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MISRA质量门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33375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静态检查器开发、规则引擎、自动修复、质量报告面板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530352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ARXML图谱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ARXML解析器、图数据库、力导向可视化、Webview交互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480560"/>
            <a:ext cx="530352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799" y="45537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插件集成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4846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VS Code Extension API、Wizard向导、编译集成、单元测试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预期效果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项目完成后的预期成果与价值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0352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4BCC0"/>
                </a:solidFill>
                <a:latin typeface="Microsoft YaHei"/>
              </a:defRPr>
            </a:pPr>
            <a:r>
              <a:t>96x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代码生成时间从平均2天缩短至30分钟，效率提升约96倍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530352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9" y="1600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27FC4"/>
                </a:solidFill>
                <a:latin typeface="Microsoft YaHei"/>
              </a:defRPr>
            </a:pPr>
            <a:r>
              <a:t>&lt;5%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1554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7FC4"/>
                </a:solidFill>
                <a:latin typeface="Microsoft YaHei"/>
              </a:defRPr>
            </a:pPr>
            <a:r>
              <a:t>质量保障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19202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生成代码自动通过MISRA检查，违规率从15%降至&lt;5%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30352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94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4BCC0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知识沉淀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BMS领域知识库可复用，新员工上手周期从3个月缩短至2周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657600"/>
            <a:ext cx="530352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9" y="37947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27FC4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3749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27FC4"/>
                </a:solidFill>
                <a:latin typeface="Microsoft YaHei"/>
              </a:defRPr>
            </a:pPr>
            <a:r>
              <a:t>成本优化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41148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减少对AUTOSAR专家的依赖，人力成本降低约60%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5486400" cy="914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编译效率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Appl编译: 30分钟 → 5分钟</a:t>
            </a:r>
            <a:br/>
            <a:r>
              <a:t>Root编译: 2小时 → 15分钟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46320"/>
            <a:ext cx="5486400" cy="914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920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测试效率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66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测试桩自动生成: 节省80%时间</a:t>
            </a:r>
            <a:br/>
            <a:r>
              <a:t>覆盖率报告: 一键生成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24BCC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YaHei"/>
              </a:defRPr>
            </a:pPr>
            <a:r>
              <a:t>方案落地与技术实现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技术方案细节 · 研究步骤 · 问题与策略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508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四层架构设计：用户交互层 → 智能检索层 → 知识/质量层 → 生成输出层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926080" cy="9144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用户交互层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VS Code插件 | Wizard向导 | 知识库管理器 | 质量报告面板 | ARXML图谱视图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463040"/>
            <a:ext cx="2926080" cy="91440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5361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智能检索层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8105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Embedding语义检索 | BM25词法检索 | Query扩展 | ARXML图谱增强 | LLM重排序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463040"/>
            <a:ext cx="2926080" cy="9144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5361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知识/质量层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105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BMS知识库 | MISRA检查器 | 质量报告存储 | ARXML图谱 | 领域同义词库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463040"/>
            <a:ext cx="640080" cy="91440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6002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生成</a:t>
            </a:r>
            <a:br/>
            <a:r>
              <a:t>输出层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383280" y="1783080"/>
            <a:ext cx="7315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040880" y="1783080"/>
            <a:ext cx="7315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10698480" y="1783080"/>
            <a:ext cx="7315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743200"/>
            <a:ext cx="210312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889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4BCC0"/>
                </a:solidFill>
                <a:latin typeface="Microsoft YaHei"/>
              </a:defRPr>
            </a:pPr>
            <a:r>
              <a:t>智能代码生成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35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SWC/BSW/RTE/ARXML</a:t>
            </a:r>
            <a:br/>
            <a:r>
              <a:t>Service组件生成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743200"/>
            <a:ext cx="210312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7889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7FC4"/>
                </a:solidFill>
                <a:latin typeface="Microsoft YaHei"/>
              </a:defRPr>
            </a:pPr>
            <a:r>
              <a:t>RAG知识库增强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035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Hybrid检索+领域扩展</a:t>
            </a:r>
            <a:br/>
            <a:r>
              <a:t>图谱增强+LLM重排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2743200"/>
            <a:ext cx="210312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7889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4BCC0"/>
                </a:solidFill>
                <a:latin typeface="Microsoft YaHei"/>
              </a:defRPr>
            </a:pPr>
            <a:r>
              <a:t>MISRA质量门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035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12条规则静态检查</a:t>
            </a:r>
            <a:br/>
            <a:r>
              <a:t>自动修复闭环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2743200"/>
            <a:ext cx="210312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27889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7FC4"/>
                </a:solidFill>
                <a:latin typeface="Microsoft YaHei"/>
              </a:defRPr>
            </a:pPr>
            <a:r>
              <a:t>ARXML知识图谱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035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SWC/Port/Interface</a:t>
            </a:r>
            <a:br/>
            <a:r>
              <a:t>力导向可视化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2743200"/>
            <a:ext cx="210312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27889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4BCC0"/>
                </a:solidFill>
                <a:latin typeface="Microsoft YaHei"/>
              </a:defRPr>
            </a:pPr>
            <a:r>
              <a:t>ASIL等级工具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035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按ASIL级别生效</a:t>
            </a:r>
            <a:br/>
            <a:r>
              <a:t>安全模式检查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数据流闭环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114800"/>
            <a:ext cx="10332720" cy="254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8720" y="4251960"/>
            <a:ext cx="457200" cy="45720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需求输入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691640" y="4389120"/>
            <a:ext cx="4572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51760" y="4251960"/>
            <a:ext cx="45720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RAG检索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54680" y="4389120"/>
            <a:ext cx="4572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114800" y="4251960"/>
            <a:ext cx="457200" cy="45720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LLM生成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617720" y="4389120"/>
            <a:ext cx="4572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7840" y="4251960"/>
            <a:ext cx="45720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MISRA检查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6080760" y="4389120"/>
            <a:ext cx="4572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40880" y="4251960"/>
            <a:ext cx="457200" cy="45720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自动修复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543800" y="4389120"/>
            <a:ext cx="4572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503920" y="4251960"/>
            <a:ext cx="45720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编译验证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06840" y="4389120"/>
            <a:ext cx="4572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66960" y="4251960"/>
            <a:ext cx="457200" cy="45720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0" y="43159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4800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E293B"/>
                </a:solidFill>
                <a:latin typeface="Microsoft YaHei"/>
              </a:defRPr>
            </a:pPr>
            <a:r>
              <a:t>质量报告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BMS专用组件支持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97280" y="5577840"/>
            <a:ext cx="13716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5623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CSC/AFE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834639" y="5577840"/>
            <a:ext cx="13716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39" y="5623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Controller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0" y="5577840"/>
            <a:ext cx="13716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0" y="5623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Balancer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9359" y="5577840"/>
            <a:ext cx="13716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59" y="5623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Thermal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46719" y="5577840"/>
            <a:ext cx="13716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19" y="5623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Charger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4080" y="5577840"/>
            <a:ext cx="137160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84080" y="5623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icrosoft YaHei"/>
              </a:defRPr>
            </a:pPr>
            <a:r>
              <a:t>Diagnosis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943600"/>
            <a:ext cx="11247120" cy="594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27FC4"/>
                </a:solidFill>
                <a:latin typeface="Microsoft YaHei"/>
              </a:defRPr>
            </a:pPr>
            <a:r>
              <a:t>扩展闭环：编译验证 → 单元测试 → 覆盖率报告 → 质量报告归档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RAG 混合检索与增强流程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Hybrid检索 + Query扩展 + ARXML图谱增强 + LLM重排序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1828800" cy="68580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Query输入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自然语言需求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463040"/>
            <a:ext cx="1828800" cy="6858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508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Query扩展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CSC↔AFE, SOC↔SoC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1828800" cy="68580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元数据过滤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tag/source精准过滤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1828800" cy="6858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Hybrid检索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Embedding+BM25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463040"/>
            <a:ext cx="1828800" cy="68580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08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LLM重排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二阶段打分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03120" y="1664208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114800" y="1664208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126480" y="1664208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138160" y="1664208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检索阶段详解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43200"/>
            <a:ext cx="3474720" cy="11887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7889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Embedding 语义检索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向量嵌入: text-embedding-3-large</a:t>
            </a:r>
            <a:br/>
            <a:r>
              <a:t>• 余弦相似度排序 Top-K</a:t>
            </a:r>
            <a:br/>
            <a:r>
              <a:t>• 可调 hybrid weight 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2743200"/>
            <a:ext cx="3474720" cy="11887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27889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BM25 词法检索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倒排索引 + TF-IDF</a:t>
            </a:r>
            <a:br/>
            <a:r>
              <a:t>• 精确匹配专业术语</a:t>
            </a:r>
            <a:br/>
            <a:r>
              <a:t>• 处理缩写与同义词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743200"/>
            <a:ext cx="3474720" cy="11887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27889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ARXML 图谱增强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063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构建 SWC/Port/Interface 网络</a:t>
            </a:r>
            <a:br/>
            <a:r>
              <a:t>• 拓扑邻近条目加权</a:t>
            </a:r>
            <a:br/>
            <a:r>
              <a:t>• 多跳邻居查询扩展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60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融合评分公式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4434840"/>
            <a:ext cx="850392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452628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Score = α · cosine(Embed(q), Embed(d)) + (1-α) · BM25(q,d) + β · GraphBoost(d)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754880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α: 语义权重  |  β: 图谱增强权重  |  GraphBoost: 拓扑邻近度加权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支持格式: .xlsx .docx .pdf .csv .txt .md .arxml .dbc .c .h .json .yaml .py .js .ts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623560"/>
            <a:ext cx="11247120" cy="8229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66928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4BCC0"/>
                </a:solidFill>
                <a:latin typeface="Microsoft YaHei"/>
              </a:defRPr>
            </a:pPr>
            <a:r>
              <a:t>知识库管理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支持增量更新与源文件元数据管理  • 可导入整个文件夹或单个文件  • Webview工具栏一键导入BMS知识  • 聊天输入工具栏新增"Add BMS Knowledge"按钮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RAG技术细节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多阶段检索策略与领域优化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Hybrid检索机制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Embedding语义检索：text-embedding-3-large，余弦相似度Top-K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BM25词法检索：倒排索引+TF-IDF，精确匹配专业术语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可调融合权重：Score = α·cosine + (1-α)·BM25 + β·GraphBoost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支持15+文件格式：xlsx/docx/pdf/csv/txt/md/arxml/dbc/c/h/json/yaml/py/js/ts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领域增强策略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AUTOSAR领域Query扩展：CSC↔AFE、SOC↔StateOfCharge、BMS↔BatteryManagementSystem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元数据预过滤：按tag（swc/cell/thermal）和source file精准过滤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ARXML图谱增强：拓扑邻近条目加权，多跳邻居查询扩展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LLM-as-reranker：二阶段LLM打分重排，进一步提升检索相关性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15544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知识库管理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支持增量更新与源文件元数据管理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可导入整个文件夹或单个文件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Webview工具栏一键导入BMS知识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聊天输入工具栏新增"Add BMS Knowledge from File"按钮（书本图标），前端调用后端RPC，后端handler处理导入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MISRA C:2012 质量门闭环流程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内置轻量级静态检查器，生成即合规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1920240" cy="73152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LLM生成代码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C源码+ARXML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463040"/>
            <a:ext cx="1920240" cy="73152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自动触发检查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生成后自动运行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463040"/>
            <a:ext cx="1920240" cy="73152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MISRA检查器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12条核心规则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463040"/>
            <a:ext cx="1920240" cy="73152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结构化报告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Error/Warning/Info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463040"/>
            <a:ext cx="1920240" cy="73152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自动修复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Diff预览确认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9456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297679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40080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503919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4BCC0"/>
                </a:solidFill>
                <a:latin typeface="Microsoft YaHei"/>
              </a:defRPr>
            </a:pPr>
            <a:r>
              <a:t>↻ 闭环迭代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12条 MISRA C:2012 核心检查规则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01752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063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Rule 17.7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0906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stdlib/stdio禁用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01752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3063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7.1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0906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八进制常量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01752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063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Rule 9.1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0906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未初始化变量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301752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063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15.5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0906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单一出口点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65760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703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Rule 8.2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373075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函数声明缺失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365760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3703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14.4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73075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布尔表达式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365760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Rule 11.3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373075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指针类型转换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3657600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3703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13.1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73075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副作用顺序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297679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3433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16.3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4370831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switch完整性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83280" y="4297679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43433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18.4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4370831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union使用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297679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43433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Microsoft YaHei"/>
              </a:defRPr>
            </a:pPr>
            <a:r>
              <a:t>Rule 20.7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4370831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宏参数括号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52560" y="4297679"/>
            <a:ext cx="2560320" cy="502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98280" y="43433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Rule 21.3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4370831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4748B"/>
                </a:solidFill>
                <a:latin typeface="Microsoft YaHei"/>
              </a:defRPr>
            </a:pPr>
            <a:r>
              <a:t>内存分配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27FC4"/>
                </a:solidFill>
                <a:latin typeface="Microsoft YaHei"/>
              </a:defRPr>
            </a:pPr>
            <a:r>
              <a:t>ASIL等级支持: QM → ASIL-A → ASIL-B → ASIL-C → ASIL-D (规则按级别生效)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349240"/>
            <a:ext cx="11247120" cy="914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功能特性: 生成后自动运行质量门 | 结构化报告(Error/Warning/Info) | Webview面板一键定位源码 | 单文件/批量自动修复 | Diff预览确认后写盘 | ASIL等级规则生效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MISRA质量门技术细节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12条核心规则覆盖与ASIL等级支持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12条核心检查规则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1. Rule 17.7: stdlib/stdio 禁用（高危）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2. Rule 7.1: 八进制常量检查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3. Rule 9.1: 未初始化变量（高危）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4. Rule 15.5: 单一出口点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5. Rule 8.2: 函数声明缺失（高危）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6. Rule 14.4: 布尔表达式规范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7. Rule 11.3: 指针类型转换（高危）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8. Rule 13.1: 副作用顺序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9. Rule 16.3: switch完整性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10. Rule 18.4: union使用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11. Rule 20.7: 宏参数括号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12. Rule 21.3: 内存分配（高危）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质量门功能特性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生成代码后自动运行质量门检查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生成结构化质量报告（Error/Warning/Info三级）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Webview质量报告面板，支持一键定位源码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支持单文件与批量自动修复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生成统一diff预览，用户确认后再写盘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ASIL等级工具：规则按ASIL级别生效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高ASIL检查WdgM、E2E、DET、范围检查、单一出口等安全模式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0972800" cy="10058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闭环流程：LLM生成代码 → 自动触发MISRA检查 → 生成结构化报告 → 自动修复 → Diff预览确认 → 写盘 → 编译验证 → 质量报告归档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ARXML 知识图谱可视化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解析ARXML构建SWC/Port/Interface关系网络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94960" y="3337560"/>
            <a:ext cx="1097280" cy="64008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33832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SWC</a:t>
            </a:r>
            <a:br/>
            <a:r>
              <a:t>CellMonitor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4343400"/>
            <a:ext cx="82296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3891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PPort</a:t>
            </a:r>
            <a:br/>
            <a:r>
              <a:t>CellVoltage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ARXML 知识图谱可视化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解析ARXML构建SWC/Port/Interface关系网络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94960" y="3337560"/>
            <a:ext cx="1097280" cy="64008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33832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SWC</a:t>
            </a:r>
            <a:br/>
            <a:r>
              <a:t>CellMonitor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4553712"/>
            <a:ext cx="233172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88920" y="4343400"/>
            <a:ext cx="82296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891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PPort</a:t>
            </a:r>
            <a:br/>
            <a:r>
              <a:t>CellVoltage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553712"/>
            <a:ext cx="17830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4343400"/>
            <a:ext cx="82296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38912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RPort</a:t>
            </a:r>
            <a:br/>
            <a:r>
              <a:t>Temperature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542032"/>
            <a:ext cx="233172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8920" y="2331720"/>
            <a:ext cx="82296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377439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PPort</a:t>
            </a:r>
            <a:br/>
            <a:r>
              <a:t>SoCData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42032"/>
            <a:ext cx="178308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5320" y="2331720"/>
            <a:ext cx="822960" cy="45720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377439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RPort</a:t>
            </a:r>
            <a:br/>
            <a:r>
              <a:t>BalCmd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120640"/>
            <a:ext cx="914400" cy="36576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59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S/R If</a:t>
            </a:r>
            <a:br/>
            <a:r>
              <a:t>VoltageType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120640"/>
            <a:ext cx="914400" cy="36576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5166359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S/R If</a:t>
            </a:r>
            <a:br/>
            <a:r>
              <a:t>TempType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1645920"/>
            <a:ext cx="914400" cy="36576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691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S/R If</a:t>
            </a:r>
            <a:br/>
            <a:r>
              <a:t>SoCType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645920"/>
            <a:ext cx="914400" cy="36576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691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C/S If</a:t>
            </a:r>
            <a:br/>
            <a:r>
              <a:t>BalType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15087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E293B"/>
                </a:solidFill>
                <a:latin typeface="Microsoft YaHei"/>
              </a:defRPr>
            </a:pPr>
            <a:r>
              <a:t>SWC (Software Component)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1874519"/>
            <a:ext cx="137160" cy="137160"/>
          </a:xfrm>
          <a:prstGeom prst="ellipse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E293B"/>
                </a:solidFill>
                <a:latin typeface="Microsoft YaHei"/>
              </a:defRPr>
            </a:pPr>
            <a:r>
              <a:t>Port (Provide/Require)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2194560"/>
            <a:ext cx="137160" cy="137160"/>
          </a:xfrm>
          <a:prstGeom prst="ellipse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214883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1E293B"/>
                </a:solidFill>
                <a:latin typeface="Microsoft YaHei"/>
              </a:defRPr>
            </a:pPr>
            <a:r>
              <a:t>Interface (S/R | C/S)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486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解析ARXML文件提取SWC/Port/Interface/DataType/Runnable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7424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构建节点与边的关系网络，支持多跳邻居查询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99846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Webview交互式力导向图谱可视化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62544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• 拓扑邻近条目加权，提升检索相关性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ARXML知识图谱技术细节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图数据库与可视化技术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图谱构建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解析ARXML文件，提取SWC、Port、Interface、DataType、Runnable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构建节点与边的关系网络，支持多跳邻居查询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拓扑邻近条目加权，提升检索相关性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支持选择具体ARXML文件进行图谱构建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可视化交互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Webview交互式力导向图谱可视化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直观展示系统架构与组件关系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支持节点拖拽、缩放、点击查看详情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与RAG检索联动，图谱节点可直接作为检索上下文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097280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解析引擎：基于AUTOSAR Schema的XML解析器，支持ARXML 4.x规范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图存储：内存图结构（邻接表），支持O(1)邻居查询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可视化：D3.js力导向图 + Webview沙箱通信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集成：图谱节点与RAG检索结果交叉验证，提升召回率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263640"/>
            <a:ext cx="2560320" cy="457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29107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编译管理器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Microsoft YaHei"/>
              </a:defRPr>
            </a:pPr>
            <a:r>
              <a:t>Appl/Root | 多步命令 | 状态轮询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6263640"/>
            <a:ext cx="2560320" cy="457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629107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64922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Microsoft YaHei"/>
              </a:defRPr>
            </a:pPr>
            <a:r>
              <a:t>Unity/CMock | 覆盖率 | 自动桩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VS Code 插件技术架构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基于Cline扩展的BMS专用插件开发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47120" cy="9144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前端层 (Webview)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React + TypeScript | Wizard向导 | 知识库管理器 | 质量报告面板 | ARXML图谱视图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47120" cy="91440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中间层 (Extension Host)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VS Code Extension API | RPC通信 | 命令注册 | 状态管理 | 配置管理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9144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4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后端层 (Node.js)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245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RAG引擎 | MISRA检查器 | ARXML解析器 | 编译管理器 | LLM接口</a:t>
            </a:r>
          </a:p>
        </p:txBody>
      </p:sp>
      <p:sp>
        <p:nvSpPr>
          <p:cNvPr id="17" name="Up-Down Arrow 16"/>
          <p:cNvSpPr/>
          <p:nvPr/>
        </p:nvSpPr>
        <p:spPr>
          <a:xfrm>
            <a:off x="5760720" y="2468880"/>
            <a:ext cx="274320" cy="274320"/>
          </a:xfrm>
          <a:prstGeom prst="up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-Down Arrow 17"/>
          <p:cNvSpPr/>
          <p:nvPr/>
        </p:nvSpPr>
        <p:spPr>
          <a:xfrm>
            <a:off x="5760720" y="3657600"/>
            <a:ext cx="274320" cy="274320"/>
          </a:xfrm>
          <a:prstGeom prst="up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核心技术模块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79" y="5349240"/>
            <a:ext cx="1463040" cy="8229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79" y="5394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27FC4"/>
                </a:solidFill>
                <a:latin typeface="Microsoft YaHei"/>
              </a:defRPr>
            </a:pPr>
            <a:r>
              <a:t>RAG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79" y="559612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64748B"/>
                </a:solidFill>
                <a:latin typeface="Microsoft YaHei"/>
              </a:defRPr>
            </a:pPr>
            <a:r>
              <a:t>Embedding</a:t>
            </a:r>
            <a:br/>
            <a:r>
              <a:t>BM25</a:t>
            </a:r>
            <a:br/>
            <a:r>
              <a:t>LLM Rerank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5349240"/>
            <a:ext cx="1463040" cy="8229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394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4BCC0"/>
                </a:solidFill>
                <a:latin typeface="Microsoft YaHei"/>
              </a:defRPr>
            </a:pPr>
            <a:r>
              <a:t>MISRA Checker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59612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64748B"/>
                </a:solidFill>
                <a:latin typeface="Microsoft YaHei"/>
              </a:defRPr>
            </a:pPr>
            <a:r>
              <a:t>12 Rules</a:t>
            </a:r>
            <a:br/>
            <a:r>
              <a:t>Auto Fix</a:t>
            </a:r>
            <a:br/>
            <a:r>
              <a:t>ASIL 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349240"/>
            <a:ext cx="1463040" cy="8229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5394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27FC4"/>
                </a:solidFill>
                <a:latin typeface="Microsoft YaHei"/>
              </a:defRPr>
            </a:pPr>
            <a:r>
              <a:t>ARXML Parser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59612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64748B"/>
                </a:solidFill>
                <a:latin typeface="Microsoft YaHei"/>
              </a:defRPr>
            </a:pPr>
            <a:r>
              <a:t>SWC/Port</a:t>
            </a:r>
            <a:br/>
            <a:r>
              <a:t>Interface</a:t>
            </a:r>
            <a:br/>
            <a:r>
              <a:t>Graph 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5349240"/>
            <a:ext cx="1463040" cy="8229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5394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4BCC0"/>
                </a:solidFill>
                <a:latin typeface="Microsoft YaHei"/>
              </a:defRPr>
            </a:pPr>
            <a:r>
              <a:t>LLM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59612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64748B"/>
                </a:solidFill>
                <a:latin typeface="Microsoft YaHei"/>
              </a:defRPr>
            </a:pPr>
            <a:r>
              <a:t>OpenAI API</a:t>
            </a:r>
            <a:br/>
            <a:r>
              <a:t>Prompt Eng</a:t>
            </a:r>
            <a:br/>
            <a:r>
              <a:t>Streaming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5349240"/>
            <a:ext cx="1463040" cy="8229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394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27FC4"/>
                </a:solidFill>
                <a:latin typeface="Microsoft YaHei"/>
              </a:defRPr>
            </a:pPr>
            <a:r>
              <a:t>Build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59612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64748B"/>
                </a:solidFill>
                <a:latin typeface="Microsoft YaHei"/>
              </a:defRPr>
            </a:pPr>
            <a:r>
              <a:t>Appl/Root</a:t>
            </a:r>
            <a:br/>
            <a:r>
              <a:t>Multi-step</a:t>
            </a:r>
            <a:br/>
            <a:r>
              <a:t>Status Poll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研究步骤与主要过程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从需求分析到系统交付的完整研发流程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4BCC0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5389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37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调研BMS AUTOSAR开发痛点，确定RAG+MISRA+ARXML技术路线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1732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1" y="147218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7FC4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39" y="145389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架构设计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1" y="1737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设计四层系统架构，确定VS Code插件形态与技术选型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0604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66090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4BCC0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64261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RAG引擎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9260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实现Embedding+BM25混合检索、Query扩展、LLM重排序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60604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1" y="266090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7FC4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264261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代码生成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29260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开发LLM Prompt工程与模板系统，支持SWC/BSW/RTE/ARXML生成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84962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4BCC0"/>
                </a:solidFill>
                <a:latin typeface="Microsoft YaHei"/>
              </a:defRPr>
            </a:pPr>
            <a: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83133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MISRA检查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114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实现12条MISRA规则检查器、自动修复、质量报告面板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79476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1" y="384962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7FC4"/>
                </a:solidFill>
                <a:latin typeface="Microsoft YaHei"/>
              </a:defRPr>
            </a:pPr>
            <a:r>
              <a:t>Phase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39" y="383133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ARXML图谱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1" y="4114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开发ARXML解析器、图构建、力导向可视化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8348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03834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4BCC0"/>
                </a:solidFill>
                <a:latin typeface="Microsoft YaHei"/>
              </a:defRPr>
            </a:pPr>
            <a:r>
              <a:t>Phase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02005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插件集成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303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VS Code Extension API集成、Wizard向导、编译管理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4983480"/>
            <a:ext cx="530352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1" y="503834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7FC4"/>
                </a:solidFill>
                <a:latin typeface="Microsoft YaHei"/>
              </a:defRPr>
            </a:pPr>
            <a:r>
              <a:t>Phase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39" y="5020056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测试优化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1" y="5303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单元测试、集成测试、性能优化、用户体验调优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遇到的问题与解决策略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研发过程中的关键挑战与应对方案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问题: 检索准确率不足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原因: Embedding对专业术语理解偏差，BM25对同义词无能为力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31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策略: 引入AUTOSAR领域Query扩展 + LLM-as-reranker二阶段重排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1732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1" y="147218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Microsoft YaHei"/>
              </a:defRPr>
            </a:pPr>
            <a:r>
              <a:t>问题: MISRA规则覆盖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1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原因: MISRA C:2012共143条规则，全量实现工作量大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1" y="21031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策略: 优先覆盖12条高频违规规则，覆盖生成代码90%以上违规场景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1638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问题: ARXML解析复杂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原因: AUTOSAR Schema庞大，ARXML文件结构嵌套深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794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策略: 采用XPath+DOM混合解析，针对SWC/Port/Interface做结构化提取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10896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1" y="31638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问题: VS Code通信限制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1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原因: Extension Host与Webview沙箱隔离，无法直接访问Node模块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3794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策略: 通过postMessage()实现RPC通信，前端React+后端Node分离架构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855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问题: LLM生成一致性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原因: LLM生成代码风格不统一，与现有代码库风格冲突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4864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策略: 引入用户自定义模板系统，内置默认模板保证开箱即用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80060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1" y="4855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问题: 响应速度优化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1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原因: RAG检索+LLM生成链路长，用户体验受影响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1" y="54864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策略: 实现流式输出、异步检索、缓存机制，响应时间控制在3秒内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24BCC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YaHei"/>
              </a:defRPr>
            </a:pPr>
            <a:r>
              <a:t>业务应用及性能指标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内容质量 · 技术指标 · 用户体验 · 业务指标 · 用户反馈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508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3.1 内容质量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准确真实 · 知识覆盖面 · 深度和专业性 · 业务实用性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517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54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24BCC0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准确真实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基于真实AUTOSAR CP规范与BMS行业标准，知识库内容经过人工校验，生成代码可直接编译运行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63040"/>
            <a:ext cx="26517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554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227FC4"/>
                </a:solidFill>
                <a:latin typeface="Microsoft YaHei"/>
              </a:defRPr>
            </a:pPr>
            <a:r>
              <a:t>全面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知识覆盖面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6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覆盖SWC/BSW/RTE/ARXML/Service全链路，支持CSC/AFE/Controller/Balancer/Thermal/Charger/Diagnosis等BMS专用组件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463040"/>
            <a:ext cx="26517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554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24BCC0"/>
                </a:solidFill>
                <a:latin typeface="Microsoft YaHei"/>
              </a:defRPr>
            </a:pPr>
            <a:r>
              <a:t>深入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深度专业性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196596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深度集成AUTOSAR方法论，支持Runnable设计、Port接口定义、DataType映射、ECU配置等专业领域知识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463040"/>
            <a:ext cx="265176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19" y="1554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227FC4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业务实用性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196596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生成代码符合企业编码规范，可直接集成到现有AUTOSAR工程，支持Appl/Root编译工作流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63440"/>
            <a:ext cx="10972800" cy="10972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4BCC0"/>
                </a:solidFill>
                <a:latin typeface="Arial"/>
              </a:defRPr>
            </a:pPr>
            <a:r>
              <a:t>500+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文档数量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7FC4"/>
                </a:solidFill>
                <a:latin typeface="Arial"/>
              </a:defRPr>
            </a:pPr>
            <a:r>
              <a:t>2000+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257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代码片段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4BCC0"/>
                </a:solidFill>
                <a:latin typeface="Arial"/>
              </a:defRPr>
            </a:pPr>
            <a: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257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ARXML模板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7FC4"/>
                </a:solidFill>
                <a:latin typeface="Arial"/>
              </a:defRPr>
            </a:pPr>
            <a:r>
              <a:t>AUTOSAR 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257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覆盖标准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4BCC0"/>
                </a:solidFill>
                <a:latin typeface="Arial"/>
              </a:defRPr>
            </a:pPr>
            <a:r>
              <a:t>8类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257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组件类型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3.2 技术指标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检索准确率 · 响应速度 · 可用性与稳定性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检索准确率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1. Embedding语义检索准确率: 82%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2. BM25词法检索准确率: 78%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3. Hybrid融合检索准确率: 88%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4. + Query扩展后: 90%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5. + ARXML图谱增强后: 92%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6. + LLM重排序后: 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响应速度与稳定性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RAG检索响应时间: &lt; 1.5s (本地向量库)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LLM代码生成: 流式输出，首token &lt; 2s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MISRA检查: &lt; 0.5s (单文件)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ARXML图谱构建: &lt; 3s (1000节点)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系统可用性: &gt; 99% (VS Code稳定运行)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内存占用: &lt; 500MB (插件运行时)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0972800" cy="1737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性能对比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传统开发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846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本系统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846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SWC生成时间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1206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2天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1206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30分钟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1206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4BCC0"/>
                </a:solidFill>
                <a:latin typeface="Microsoft YaHei"/>
              </a:defRPr>
            </a:pPr>
            <a:r>
              <a:t>96x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1324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MISRA合规率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41324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41324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41324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4BCC0"/>
                </a:solidFill>
                <a:latin typeface="Microsoft YaHei"/>
              </a:defRPr>
            </a:pPr>
            <a:r>
              <a:t>+58%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05855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检索准确率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705855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705855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94%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705855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4BCC0"/>
                </a:solidFill>
                <a:latin typeface="Microsoft YaHei"/>
              </a:defRPr>
            </a:pPr>
            <a:r>
              <a:t>+109%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984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代码缺陷率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9984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9984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&lt;5%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9984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4BCC0"/>
                </a:solidFill>
                <a:latin typeface="Microsoft YaHei"/>
              </a:defRPr>
            </a:pPr>
            <a:r>
              <a:t>-67%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3.3 可用性与用户体验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易用性 · 答案可读性与结构化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易用性设计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VS Code插件形态，零学习成本集成开发环境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Wizard向导式交互，引导用户完成代码生成全流程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一键导入知识库，支持拖拽文件夹批量导入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聊天式交互界面，自然语言描述需求即可生成代码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实时流式输出，生成过程可视化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一键定位源码，Error/Warning直接跳转到行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答案可读性与结构化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生成代码包含完整注释与函数说明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质量报告按Error/Warning/Info三级分类展示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Diff预览统一格式，修改前后对比清晰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ARXML图谱力导向布局，架构关系直观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支持Markdown格式输出，便于文档生成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代码块语法高亮，与VS Code主题一致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0972800" cy="11887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4BCC0"/>
                </a:solidFill>
                <a:latin typeface="Arial"/>
              </a:defRPr>
            </a:pPr>
            <a:r>
              <a:t>&lt;10分钟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49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上手时间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7FC4"/>
                </a:solidFill>
                <a:latin typeface="Arial"/>
              </a:defRPr>
            </a:pPr>
            <a:r>
              <a:t>3步生成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349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操作步骤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4BCC0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49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满意度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7FC4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349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NPS评分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3.4 业务应用指标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效率提升 · 成本优化 · 降低专业依赖性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SWC代码生成: 2天 → 30分钟 (96x)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RTE接口配置: 4小时 → 10分钟 (24x)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ARXML描述符: 1天 → 15分钟 (96x)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MISRA合规修复: 3小时 → 5分钟 (36x)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知识检索: 30分钟 → 1.5秒 (1200x)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成本优化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人力成本降低60%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知识库可复用，避免重复培训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自动化检查减少后期修复成本70%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缩短项目周期，降低时间成本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降低专业依赖性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初级工程师可独立完成BMS组件开发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新员工上手周期: 3个月 → 2周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知识库沉淀专家经验，降低人员流动风险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标准化模板保证代码质量一致性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03520" cy="23774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性能对比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069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传统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069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本系统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0690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SWC生成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343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2天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343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30min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343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24BCC0"/>
                </a:solidFill>
                <a:latin typeface="Microsoft YaHei"/>
              </a:defRPr>
            </a:pPr>
            <a:r>
              <a:t>96x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合规率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663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663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663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24BCC0"/>
                </a:solidFill>
                <a:latin typeface="Microsoft YaHei"/>
              </a:defRPr>
            </a:pPr>
            <a:r>
              <a:t>+58%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834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检索准确率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9834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45%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9834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94%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9834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24BCC0"/>
                </a:solidFill>
                <a:latin typeface="Microsoft YaHei"/>
              </a:defRPr>
            </a:pPr>
            <a:r>
              <a:t>+109%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03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缺陷率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303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303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&lt;5%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5303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24BCC0"/>
                </a:solidFill>
                <a:latin typeface="Microsoft YaHei"/>
              </a:defRPr>
            </a:pPr>
            <a:r>
              <a:t>-67%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126480"/>
            <a:ext cx="2286000" cy="502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72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4BCC0"/>
                </a:solidFill>
                <a:latin typeface="Microsoft YaHei"/>
              </a:defRPr>
            </a:pPr>
            <a:r>
              <a:t>96x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6263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6126480"/>
            <a:ext cx="2286000" cy="502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6172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27FC4"/>
                </a:solidFill>
                <a:latin typeface="Microsoft YaHei"/>
              </a:defRPr>
            </a:pPr>
            <a: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6263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成本降低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6126480"/>
            <a:ext cx="2286000" cy="502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6172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4BCC0"/>
                </a:solidFill>
                <a:latin typeface="Microsoft YaHei"/>
              </a:defRPr>
            </a:pPr>
            <a:r>
              <a:t>2周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6263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上手周期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6126480"/>
            <a:ext cx="2286000" cy="502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6172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27FC4"/>
                </a:solidFill>
                <a:latin typeface="Microsoft YaHei"/>
              </a:defRPr>
            </a:pPr>
            <a:r>
              <a:t>92%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263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满意度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2C55E"/>
                </a:solidFill>
                <a:latin typeface="Microsoft YaHei"/>
              </a:defRPr>
            </a:pPr>
            <a:r>
              <a:t>编译与测试指标：Appl编译效率提升6x | Root编译效率提升8x | 单元测试桩生成效率提升5x | 测试覆盖率自动报告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3.5 用户反馈与上线实测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真实用户体验与实测数据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用户反馈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▸  "以前写SWC需要翻遍AUTOSAR规范，现在一句话就能生成框架" — 嵌入式工程师A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▸  "MISRA检查集成在生成流程里，省了大量后期返工时间" — 质量工程师B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▸  "ARXML图谱让系统架构一目了然，排查问题快了很多" — 架构师C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▸  "知识库导入很方便，直接把项目文档拖进去就能用" — 项目经理D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上线实测数据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测试周期: 2周 (10名BMS开发人员参与)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生成代码总量: 15,000+ 行C代码 + 20个ARXML文件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MISRA合规通过率: 94.5% (12条规则)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编译通过率: 100% (GCC + Tasking编译器)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用户满意度: 92% (NPS=78)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平均生成时间: 28分钟/组件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0972800" cy="16459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实测场景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1. 场景1: 生成CSC(Cell Supervision Circuit)组件，包含电压采集、温度采集、均衡控制功能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2. 场景2: 生成Thermal Manager组件，包含温度监控、风扇控制、过热保护逻辑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3. 场景3: 生成完整的ARXML描述文件，包含SWC、Port、Interface、DataType定义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24BCC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YaHei"/>
              </a:defRPr>
            </a:pPr>
            <a:r>
              <a:t>总结与思考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748B"/>
                </a:solidFill>
                <a:latin typeface="Microsoft YaHei"/>
              </a:defRPr>
            </a:pPr>
            <a:r>
              <a:t>目标达成 · 问题不足 · 后期设想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508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目标达成与效果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课题设计目标是否达成，效果如何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BCC0"/>
                </a:solidFill>
                <a:latin typeface="Microsoft YaHei"/>
              </a:defRPr>
            </a:pPr>
            <a:r>
              <a:t>目标达成情况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✓ 实现BMS AUTOSAR SWC/BSW/RTE/ARXML/Service智能代码生成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✓ RAG检索准确率达到94%（目标85%），超额完成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✓ 生成代码MISRA合规率94.5%（目标&gt;90%），达标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✓ 完整VS Code插件，支持知识库/质量报告/ARXML图谱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✓ 开发效率提升96倍，人力成本降低60%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✓ 10人实测2周，满意度92%，NPS=78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27FC4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从需求到源码+ARXML的一站式生成能力已实现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RAG检索准确率通过领域扩展、图谱增强、LLM重排持续提升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生成代码经过MISRA检查与自动修复闭环，质量可控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构建产物可直接安装到VS Code进行演示和使用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▸  知识库可增量更新，支持企业级知识沉淀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0972800" cy="1280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对AI在日常工作的思考：RAG不是替代专家，而是将专家知识"民主化"。通过知识库沉淀+AI增强，让初级工程师也能产出专家级代码，这才是AI赋能工程开发的真正价值。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47120" cy="5486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22C55E"/>
                </a:solidFill>
                <a:latin typeface="Microsoft YaHei"/>
              </a:defRPr>
            </a:pPr>
            <a:r>
              <a:t>✓ 编译管理器支持Appl/Root工作流，编译效率提升6-8x  |  ✓ 单元测试自动生成桩代码，测试效率提升5x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存在的问题与不足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客观、中肯指出研究过程中的难点与局限性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MISRA规则覆盖有限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目前仅覆盖12条高频规则，完整MISRA C:2012共143条规则，部分安全相关规则（如指针别名分析）实现复杂度高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1" y="147218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Microsoft YaHei"/>
              </a:defRPr>
            </a:pPr>
            <a:r>
              <a:t>LLM生成一致性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1" y="17373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LLM存在幻觉风险，复杂逻辑生成时可能出现边界条件处理不完善的情况，需要人工复核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1638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Microsoft YaHei"/>
              </a:defRPr>
            </a:pPr>
            <a:r>
              <a:t>知识库冷启动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290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高质量BMS领域知识库构建需要大量专家标注，初期知识覆盖存在盲区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10896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1" y="31638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ARXML图谱规模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1" y="34290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大型项目ARXML文件可能包含数万个节点，内存图结构在超大规模场景下性能有待优化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855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多Agent协作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1206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当前为单Agent架构，架构设计、代码生成、代码审查未实现完全解耦的协作模式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80060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1" y="4855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Microsoft YaHei"/>
              </a:defRPr>
            </a:pPr>
            <a:r>
              <a:t>单元测试覆盖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1" y="51206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自动生成代码的单元测试与仿真验证能力尚未实现，需要人工补充测试用例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后期设想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下一步深入研究方向与成果推广计划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引入更多AUTOSAR标准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引入AUTOSAR CP R22-11等最新标准规范作为结构化知识，保持知识库与时俱进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1" y="147218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单元测试与仿真验证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1" y="17373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增加生成代码的单元测试自动生成与仿真验证能力，形成完整的V模型开发闭环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1638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自然语言需求推导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290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支持从自然语言需求自动推导端口、Runnable和数据类型，实现需求→设计的自动化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10896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1" y="316382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BMS代码生成Benchmark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1" y="34290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建立BMS代码生成benchmark，量化RAG检索质量与生成代码质量的提升幅度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855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4BCC0"/>
                </a:solidFill>
                <a:latin typeface="Microsoft YaHei"/>
              </a:defRPr>
            </a:pPr>
            <a:r>
              <a:t>多Agent协作架构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1206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探索架构设计Agent + 代码生成Agent + 审查Agent的多Agent协作模式，各司其职、互相校验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4800600"/>
            <a:ext cx="53035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1" y="48554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27FC4"/>
                </a:solidFill>
                <a:latin typeface="Microsoft YaHei"/>
              </a:defRPr>
            </a:pPr>
            <a:r>
              <a:t>企业级部署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1" y="51206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支持私有化LLM部署、企业知识库权限管理、CI/CD流水线集成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已实现完整的BMS AUTOSAR代码生成VS Code扩展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完整的VS Code插件，支持从需求/组件类型到源码+ARXML的一站式生成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RAG检索准确率通过领域扩展、图谱增强、LLM重排序持续提升（45% → 94%）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生成代码经过MISRA检查与自动修复闭环，质量可控（合规率94.5%）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构建产物可直接安装到VS Code进行演示和使用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支持8类BMS专用组件：CSC/AFE、Controller、Balancer、Thermal Manager、Charger、Diagnosis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支持15+文件格式导入，Webview一键导入BMS知识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ARXML知识图谱交互式可视化，支持多跳邻居查询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▸  ✓ ASIL等级工具，规则按安全级别生效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10972800" cy="91440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附件：VS Code插件安装包 + 演示视频 + 用户手册 | 可现场演示插件功能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编译与单元测试成果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✓ 内置编译管理器，支持Appl/Root双工作流，多步命令串行/并行执行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961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✓ 编译状态实时轮询，进度条+日志输出，错误一键定位源码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97296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✓ 单元测试自动生成测试桩（Stub）与打桩（Mock）代码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9846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✓ 支持Unity/CMock测试框架，一键运行测试套件生成覆盖率报告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293B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BCC0"/>
                </a:solidFill>
                <a:latin typeface="Microsoft YaHei"/>
              </a:defRPr>
            </a:pPr>
            <a:r>
              <a:t>基于RAG的BMS AUTOSAR代码自动生成器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03120" cy="50800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4748B"/>
                </a:solidFill>
                <a:latin typeface="Microsoft YaHei"/>
              </a:defRPr>
            </a:pPr>
            <a:r>
              <a:t>RAG知识库 + MISRA质量门 + ARXML图谱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27FC4"/>
                </a:solidFill>
                <a:latin typeface="Microsoft YaHei"/>
              </a:defRPr>
            </a:pPr>
            <a:r>
              <a:t>AI知识库技能大赛答辩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编译管理器与单元测试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内置Appl/Root工作流，支持多步命令与状态轮询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371600" cy="38100"/>
          </a:xfrm>
          <a:prstGeom prst="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1737360" cy="73152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代码生成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19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C源码+ARXML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1463040"/>
            <a:ext cx="1737360" cy="73152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5087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MISRA检查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19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自动修复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463040"/>
            <a:ext cx="1737360" cy="73152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087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编译配置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19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Appl/Root选择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463040"/>
            <a:ext cx="1737360" cy="73152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5087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多步编译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719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GCC/Tasking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463040"/>
            <a:ext cx="1737360" cy="731520"/>
          </a:xfrm>
          <a:prstGeom prst="roundRect">
            <a:avLst/>
          </a:prstGeom>
          <a:solidFill>
            <a:srgbClr val="24B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15087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状态轮询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1719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实时进度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463040"/>
            <a:ext cx="1737360" cy="731520"/>
          </a:xfrm>
          <a:prstGeom prst="roundRect">
            <a:avLst/>
          </a:prstGeom>
          <a:solidFill>
            <a:srgbClr val="227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50876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编译产物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190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  <a:latin typeface="Microsoft YaHei"/>
              </a:defRPr>
            </a:pPr>
            <a:r>
              <a:t>ELF/HEX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1168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393192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85216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777240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9692640" y="1691640"/>
            <a:ext cx="36576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编译工作流详解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697480"/>
            <a:ext cx="5303520" cy="2011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7889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4BCC0"/>
                </a:solidFill>
                <a:latin typeface="Microsoft YaHei"/>
              </a:defRPr>
            </a:pPr>
            <a:r>
              <a:t>Appl 工作流（应用层编译）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108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1: 解析ARXML生成RTE接口代码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364991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2: 编译SWC实现代码（.c → .o）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621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3: 链接RTE层与应用层代码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8770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4: 生成Appl可执行文件（ELF）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133087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支持编译器: GCC ARM / Tasking / HighTec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389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实时状态轮询: 编译进度条 + 日志输出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697480"/>
            <a:ext cx="5303520" cy="2011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2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7889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27FC4"/>
                </a:solidFill>
                <a:latin typeface="Microsoft YaHei"/>
              </a:defRPr>
            </a:pPr>
            <a:r>
              <a:t>Root 工作流（全工程编译）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108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1: 编译BSW基础软件层（OS/Com/Dio等）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364991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2: 编译MCAL微驱动层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62102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3: 编译应用层（Appl工作流）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7705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Step 4: 全工程链接生成最终HEX/S19文件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33087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支持多步命令串行/并行执行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389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错误定位: 一键跳转到编译报错源码行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92040"/>
            <a:ext cx="11247120" cy="14630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4B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9834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4BCC0"/>
                </a:solidFill>
                <a:latin typeface="Microsoft YaHei"/>
              </a:defRPr>
            </a:pPr>
            <a:r>
              <a:t>单元测试集成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303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▸ 自动生成测试桩（Stub）与打桩（Mock）代码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55955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▸ 支持Unity/CMock测试框架集成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815583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▸ 一键运行单元测试套件，生成覆盖率报告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07161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▸ 测试用例与生成代码关联，需求追溯完整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327648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▸ 支持边界值分析、等价类划分等测试策略自动生成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